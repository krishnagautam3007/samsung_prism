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lgn="l">
              <a:spcBef>
                <a:spcPts val="0"/>
              </a:spcBef>
              <a:spcAft>
                <a:spcPts val="600"/>
              </a:spcAft>
              <a:buNone/>
            </a:pPr>
            <a:r>
              <a:rPr lang="en-US" sz="1200" dirty="0">
                <a:solidFill>
                  <a:srgbClr val="000000"/>
                </a:solidFill>
                <a:latin typeface="Calibri"/>
                <a:ea typeface="Calibri"/>
                <a:cs typeface="Calibri"/>
                <a:sym typeface="Calibri"/>
              </a:rPr>
              <a:t>Hi everyone. Our entry for Theme 05 is Truth-Gated Voice: a voice agent that only says what it has actually done.</a:t>
            </a:r>
            <a:endParaRPr lang="en-US" sz="1200" dirty="0"/>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lgn="l">
              <a:spcBef>
                <a:spcPts val="0"/>
              </a:spcBef>
              <a:spcAft>
                <a:spcPts val="600"/>
              </a:spcAft>
              <a:buNone/>
            </a:pPr>
            <a:r>
              <a:rPr lang="en-US" sz="1200" dirty="0">
                <a:solidFill>
                  <a:srgbClr val="000000"/>
                </a:solidFill>
                <a:latin typeface="Calibri"/>
                <a:ea typeface="Calibri"/>
                <a:cs typeface="Calibri"/>
                <a:sym typeface="Calibri"/>
              </a:rPr>
              <a:t>Quick framing of the theme, then the scoring. The weights are standard, but look at the multiplier at the bottom right.</a:t>
            </a:r>
            <a:endParaRPr lang="en-US" sz="1200" dirty="0"/>
          </a:p>
          <a:p>
            <a:pPr marL="0" indent="0" algn="l">
              <a:spcBef>
                <a:spcPts val="0"/>
              </a:spcBef>
              <a:spcAft>
                <a:spcPts val="600"/>
              </a:spcAft>
              <a:buNone/>
            </a:pPr>
            <a:r>
              <a:rPr lang="en-US" sz="1200" dirty="0">
                <a:solidFill>
                  <a:srgbClr val="000000"/>
                </a:solidFill>
                <a:latin typeface="Calibri"/>
                <a:ea typeface="Calibri"/>
                <a:cs typeface="Calibri"/>
                <a:sym typeface="Calibri"/>
              </a:rPr>
              <a:t>It applies to every scenario and truthfulness is part of it, so how the agent talks is worth real points. That’s why we built around speech.</a:t>
            </a:r>
            <a:endParaRPr lang="en-US" sz="1200" dirty="0"/>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lgn="l">
              <a:spcBef>
                <a:spcPts val="0"/>
              </a:spcBef>
              <a:spcAft>
                <a:spcPts val="600"/>
              </a:spcAft>
              <a:buNone/>
            </a:pPr>
            <a:r>
              <a:rPr lang="en-US" sz="1200" dirty="0">
                <a:solidFill>
                  <a:srgbClr val="000000"/>
                </a:solidFill>
                <a:latin typeface="Calibri"/>
                <a:ea typeface="Calibri"/>
                <a:cs typeface="Calibri"/>
                <a:sym typeface="Calibri"/>
              </a:rPr>
              <a:t>We looked at four common ways voice agents work today. Each gets something right.</a:t>
            </a:r>
            <a:endParaRPr lang="en-US" sz="1200" dirty="0"/>
          </a:p>
          <a:p>
            <a:pPr marL="0" indent="0" algn="l">
              <a:spcBef>
                <a:spcPts val="0"/>
              </a:spcBef>
              <a:spcAft>
                <a:spcPts val="600"/>
              </a:spcAft>
              <a:buNone/>
            </a:pPr>
            <a:r>
              <a:rPr lang="en-US" sz="1200" dirty="0">
                <a:solidFill>
                  <a:srgbClr val="000000"/>
                </a:solidFill>
                <a:latin typeface="Calibri"/>
                <a:ea typeface="Calibri"/>
                <a:cs typeface="Calibri"/>
                <a:sym typeface="Calibri"/>
              </a:rPr>
              <a:t>None of them has a checkpoint between what the agent believes and what it says, so all of them can say “done” before the tool does.</a:t>
            </a:r>
            <a:endParaRPr lang="en-US" sz="1200" dirty="0"/>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lgn="l">
              <a:spcBef>
                <a:spcPts val="0"/>
              </a:spcBef>
              <a:spcAft>
                <a:spcPts val="600"/>
              </a:spcAft>
              <a:buNone/>
            </a:pPr>
            <a:r>
              <a:rPr lang="en-US" sz="1200" dirty="0">
                <a:solidFill>
                  <a:srgbClr val="000000"/>
                </a:solidFill>
                <a:latin typeface="Calibri"/>
                <a:ea typeface="Calibri"/>
                <a:cs typeface="Calibri"/>
                <a:sym typeface="Calibri"/>
              </a:rPr>
              <a:t>Read it left to right. Events come in, the listener keeps the slot state, the planner calls tools, and every result lands in the ledger as a receipt.</a:t>
            </a:r>
            <a:endParaRPr lang="en-US" sz="1200" dirty="0"/>
          </a:p>
          <a:p>
            <a:pPr marL="0" indent="0" algn="l">
              <a:spcBef>
                <a:spcPts val="0"/>
              </a:spcBef>
              <a:spcAft>
                <a:spcPts val="600"/>
              </a:spcAft>
              <a:buNone/>
            </a:pPr>
            <a:r>
              <a:rPr lang="en-US" sz="1200" dirty="0">
                <a:solidFill>
                  <a:srgbClr val="000000"/>
                </a:solidFill>
                <a:latin typeface="Calibri"/>
                <a:ea typeface="Calibri"/>
                <a:cs typeface="Calibri"/>
                <a:sym typeface="Calibri"/>
              </a:rPr>
              <a:t>Every line the agent wants to say, from the fast path or the planner, goes through the gate first. Bottom right is a typical case it catches.</a:t>
            </a:r>
            <a:endParaRPr lang="en-US" sz="1200" dirty="0"/>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lgn="l">
              <a:spcBef>
                <a:spcPts val="0"/>
              </a:spcBef>
              <a:spcAft>
                <a:spcPts val="600"/>
              </a:spcAft>
              <a:buNone/>
            </a:pPr>
            <a:r>
              <a:rPr lang="en-US" sz="1200" dirty="0">
                <a:solidFill>
                  <a:srgbClr val="000000"/>
                </a:solidFill>
                <a:latin typeface="Calibri"/>
                <a:ea typeface="Calibri"/>
                <a:cs typeface="Calibri"/>
                <a:sym typeface="Calibri"/>
              </a:rPr>
              <a:t>One scenario from start to finish. Three moments to point at.</a:t>
            </a:r>
            <a:endParaRPr lang="en-US" sz="1200" dirty="0"/>
          </a:p>
          <a:p>
            <a:pPr marL="0" indent="0" algn="l">
              <a:spcBef>
                <a:spcPts val="0"/>
              </a:spcBef>
              <a:spcAft>
                <a:spcPts val="600"/>
              </a:spcAft>
              <a:buNone/>
            </a:pPr>
            <a:r>
              <a:rPr lang="en-US" sz="1200" dirty="0">
                <a:solidFill>
                  <a:srgbClr val="000000"/>
                </a:solidFill>
                <a:latin typeface="Calibri"/>
                <a:ea typeface="Calibri"/>
                <a:cs typeface="Calibri"/>
                <a:sym typeface="Calibri"/>
              </a:rPr>
              <a:t>At 1.9 s the stale Mumbai booking is cancelled as soon as the city changes. At 3.0 s the planner tries to say “booked” and the gate rewrites it.</a:t>
            </a:r>
            <a:endParaRPr lang="en-US" sz="1200" dirty="0"/>
          </a:p>
          <a:p>
            <a:pPr marL="0" indent="0" algn="l">
              <a:spcBef>
                <a:spcPts val="0"/>
              </a:spcBef>
              <a:spcAft>
                <a:spcPts val="600"/>
              </a:spcAft>
              <a:buNone/>
            </a:pPr>
            <a:r>
              <a:rPr lang="en-US" sz="1200" dirty="0">
                <a:solidFill>
                  <a:srgbClr val="000000"/>
                </a:solidFill>
                <a:latin typeface="Calibri"/>
                <a:ea typeface="Calibri"/>
                <a:cs typeface="Calibri"/>
                <a:sym typeface="Calibri"/>
              </a:rPr>
              <a:t>At 4.8 s the injected timeout is said out loud and retried with the same call_id, so there’s no double booking.</a:t>
            </a:r>
            <a:endParaRPr lang="en-US" sz="1200" dirty="0"/>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lgn="l">
              <a:spcBef>
                <a:spcPts val="0"/>
              </a:spcBef>
              <a:spcAft>
                <a:spcPts val="600"/>
              </a:spcAft>
              <a:buNone/>
            </a:pPr>
            <a:r>
              <a:rPr lang="en-US" sz="1200" dirty="0">
                <a:solidFill>
                  <a:srgbClr val="000000"/>
                </a:solidFill>
                <a:latin typeface="Calibri"/>
                <a:ea typeface="Calibri"/>
                <a:cs typeface="Calibri"/>
                <a:sym typeface="Calibri"/>
              </a:rPr>
              <a:t>The stack is deliberately boring. The one strong opinion: there’s no LLM inside the gate.</a:t>
            </a:r>
            <a:endParaRPr lang="en-US" sz="1200" dirty="0"/>
          </a:p>
          <a:p>
            <a:pPr marL="0" indent="0" algn="l">
              <a:spcBef>
                <a:spcPts val="0"/>
              </a:spcBef>
              <a:spcAft>
                <a:spcPts val="600"/>
              </a:spcAft>
              <a:buNone/>
            </a:pPr>
            <a:r>
              <a:rPr lang="en-US" sz="1200" dirty="0">
                <a:solidFill>
                  <a:srgbClr val="000000"/>
                </a:solidFill>
                <a:latin typeface="Calibri"/>
                <a:ea typeface="Calibri"/>
                <a:cs typeface="Calibri"/>
                <a:sym typeface="Calibri"/>
              </a:rPr>
              <a:t>It runs on every sentence, so it has to be a parser and a word list built from the tool manifests.</a:t>
            </a:r>
            <a:endParaRPr lang="en-US" sz="1200" dirty="0"/>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lgn="l">
              <a:spcBef>
                <a:spcPts val="0"/>
              </a:spcBef>
              <a:spcAft>
                <a:spcPts val="600"/>
              </a:spcAft>
              <a:buNone/>
            </a:pPr>
            <a:r>
              <a:rPr lang="en-US" sz="1200" dirty="0">
                <a:solidFill>
                  <a:srgbClr val="000000"/>
                </a:solidFill>
                <a:latin typeface="Calibri"/>
                <a:ea typeface="Calibri"/>
                <a:cs typeface="Calibri"/>
                <a:sym typeface="Calibri"/>
              </a:rPr>
              <a:t>These are the four settings from the theme brief, and the quotes are what the user would hear with the gate in place.</a:t>
            </a:r>
            <a:endParaRPr lang="en-US" sz="1200" dirty="0"/>
          </a:p>
          <a:p>
            <a:pPr marL="0" indent="0" algn="l">
              <a:spcBef>
                <a:spcPts val="0"/>
              </a:spcBef>
              <a:spcAft>
                <a:spcPts val="600"/>
              </a:spcAft>
              <a:buNone/>
            </a:pPr>
            <a:r>
              <a:rPr lang="en-US" sz="1200" dirty="0">
                <a:solidFill>
                  <a:srgbClr val="000000"/>
                </a:solidFill>
                <a:latin typeface="Calibri"/>
                <a:ea typeface="Calibri"/>
                <a:cs typeface="Calibri"/>
                <a:sym typeface="Calibri"/>
              </a:rPr>
              <a:t>The Samsung line is the bigger point: the gate only reads receipts, so it doesn’t care which product it sits in.</a:t>
            </a:r>
            <a:endParaRPr lang="en-US" sz="1200" dirty="0"/>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lgn="l">
              <a:spcBef>
                <a:spcPts val="0"/>
              </a:spcBef>
              <a:spcAft>
                <a:spcPts val="600"/>
              </a:spcAft>
              <a:buNone/>
            </a:pPr>
            <a:r>
              <a:rPr lang="en-US" sz="1200" dirty="0">
                <a:solidFill>
                  <a:srgbClr val="000000"/>
                </a:solidFill>
                <a:latin typeface="Calibri"/>
                <a:ea typeface="Calibri"/>
                <a:cs typeface="Calibri"/>
                <a:sym typeface="Calibri"/>
              </a:rPr>
              <a:t>Being straight about results: these are our targets for the public suite, and we’ll report measured numbers once the kit is released.</a:t>
            </a:r>
            <a:endParaRPr lang="en-US" sz="1200" dirty="0"/>
          </a:p>
          <a:p>
            <a:pPr marL="0" indent="0" algn="l">
              <a:spcBef>
                <a:spcPts val="0"/>
              </a:spcBef>
              <a:spcAft>
                <a:spcPts val="600"/>
              </a:spcAft>
              <a:buNone/>
            </a:pPr>
            <a:r>
              <a:rPr lang="en-US" sz="1200" dirty="0">
                <a:solidFill>
                  <a:srgbClr val="000000"/>
                </a:solidFill>
                <a:latin typeface="Calibri"/>
                <a:ea typeface="Calibri"/>
                <a:cs typeface="Calibri"/>
                <a:sym typeface="Calibri"/>
              </a:rPr>
              <a:t>The limitations are real, especially the first one. The gate trusts tool receipts; it doesn’t verify the outside world.</a:t>
            </a:r>
            <a:endParaRPr lang="en-US" sz="1200" dirty="0"/>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lgn="l">
              <a:spcBef>
                <a:spcPts val="0"/>
              </a:spcBef>
              <a:spcAft>
                <a:spcPts val="600"/>
              </a:spcAft>
              <a:buNone/>
            </a:pPr>
            <a:r>
              <a:rPr lang="en-US" sz="1200" dirty="0">
                <a:solidFill>
                  <a:srgbClr val="000000"/>
                </a:solidFill>
                <a:latin typeface="Calibri"/>
                <a:ea typeface="Calibri"/>
                <a:cs typeface="Calibri"/>
                <a:sym typeface="Calibri"/>
              </a:rPr>
              <a:t>Next steps, in order. Step one is simply getting on the scoreboard. Step two is where we expect to learn the most, because the hidden set is built around adversarial timing.</a:t>
            </a:r>
            <a:endParaRPr lang="en-US" sz="1200" dirty="0"/>
          </a:p>
          <a:p>
            <a:pPr marL="0" indent="0" algn="l">
              <a:spcBef>
                <a:spcPts val="0"/>
              </a:spcBef>
              <a:spcAft>
                <a:spcPts val="600"/>
              </a:spcAft>
              <a:buNone/>
            </a:pPr>
            <a:r>
              <a:rPr lang="en-US" sz="1200" dirty="0">
                <a:solidFill>
                  <a:srgbClr val="000000"/>
                </a:solidFill>
                <a:latin typeface="Calibri"/>
                <a:ea typeface="Calibri"/>
                <a:cs typeface="Calibri"/>
                <a:sym typeface="Calibri"/>
              </a:rPr>
              <a:t>The three questions at the bottom shape a lot of the design, so we answer them on day one.</a:t>
            </a:r>
            <a:endParaRPr lang="en-US" sz="1200" dirty="0"/>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lgn="l">
              <a:spcBef>
                <a:spcPts val="0"/>
              </a:spcBef>
              <a:spcAft>
                <a:spcPts val="600"/>
              </a:spcAft>
              <a:buNone/>
            </a:pPr>
            <a:r>
              <a:rPr lang="en-US" sz="1200" dirty="0">
                <a:solidFill>
                  <a:srgbClr val="000000"/>
                </a:solidFill>
                <a:latin typeface="Calibri"/>
                <a:ea typeface="Calibri"/>
                <a:cs typeface="Calibri"/>
                <a:sym typeface="Calibri"/>
              </a:rPr>
              <a:t>If you remember one slide, make it this one. Same request, same timeout.</a:t>
            </a:r>
            <a:endParaRPr lang="en-US" sz="1200" dirty="0"/>
          </a:p>
          <a:p>
            <a:pPr marL="0" indent="0" algn="l">
              <a:spcBef>
                <a:spcPts val="0"/>
              </a:spcBef>
              <a:spcAft>
                <a:spcPts val="600"/>
              </a:spcAft>
              <a:buNone/>
            </a:pPr>
            <a:r>
              <a:rPr lang="en-US" sz="1200" dirty="0">
                <a:solidFill>
                  <a:srgbClr val="000000"/>
                </a:solidFill>
                <a:latin typeface="Calibri"/>
                <a:ea typeface="Calibri"/>
                <a:cs typeface="Calibri"/>
                <a:sym typeface="Calibri"/>
              </a:rPr>
              <a:t>The typical agent ends with someone at the airport without a ticket. Ours ends with an honest delay and a real confirmation.</a:t>
            </a:r>
            <a:endParaRPr lang="en-US" sz="1200" dirty="0"/>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lgn="l">
              <a:spcBef>
                <a:spcPts val="0"/>
              </a:spcBef>
              <a:spcAft>
                <a:spcPts val="600"/>
              </a:spcAft>
              <a:buNone/>
            </a:pPr>
            <a:r>
              <a:rPr lang="en-US" sz="1200" dirty="0">
                <a:solidFill>
                  <a:srgbClr val="000000"/>
                </a:solidFill>
                <a:latin typeface="Calibri"/>
                <a:ea typeface="Calibri"/>
                <a:cs typeface="Calibri"/>
                <a:sym typeface="Calibri"/>
              </a:rPr>
              <a:t>Checklist status for the submission.</a:t>
            </a:r>
            <a:endParaRPr lang="en-US" sz="1200" dirty="0"/>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5183188" y="987425"/>
            <a:ext cx="6172200" cy="4873625"/>
          </a:xfrm>
          <a:prstGeom prst="rect">
            <a:avLst/>
          </a:prstGeom>
          <a:noFill/>
          <a:ln>
            <a:noFill/>
          </a:ln>
        </p:spPr>
      </p:sp>
      <p:sp>
        <p:nvSpPr>
          <p:cNvPr id="69" name="Google Shape;69;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name="adj" fmla="val 50000"/>
            </a:avLst>
          </a:prstGeom>
          <a:solidFill>
            <a:srgbClr val="FFFFFF"/>
          </a:solidFill>
          <a:ln w="12700" cap="flat" cmpd="sng">
            <a:solidFill>
              <a:srgbClr val="D9D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77240" y="676656"/>
            <a:ext cx="24231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100"/>
              <a:buFont typeface="Arial"/>
              <a:buNone/>
            </a:pPr>
            <a:r>
              <a:rPr lang="en-US" sz="1100" b="1" i="0" u="none" strike="noStrike" cap="none">
                <a:solidFill>
                  <a:srgbClr val="6D28D9"/>
                </a:solidFill>
                <a:latin typeface="Arial"/>
                <a:ea typeface="Arial"/>
                <a:cs typeface="Arial"/>
                <a:sym typeface="Arial"/>
              </a:rPr>
              <a:t>SAMSUNG PRISM</a:t>
            </a:r>
            <a:endParaRPr sz="1100" b="0" i="0" u="none" strike="noStrike" cap="non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5000"/>
              <a:buFont typeface="Arial"/>
              <a:buNone/>
            </a:pPr>
            <a:r>
              <a:rPr lang="en-US" sz="5000" b="1" i="0" u="none" strike="noStrike" cap="none">
                <a:solidFill>
                  <a:srgbClr val="14142B"/>
                </a:solidFill>
                <a:latin typeface="Arial"/>
                <a:ea typeface="Arial"/>
                <a:cs typeface="Arial"/>
                <a:sym typeface="Arial"/>
              </a:rPr>
              <a:t>Generative AI</a:t>
            </a:r>
            <a:endParaRPr sz="5000" b="0" i="0" u="none" strike="noStrike" cap="non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28D9"/>
              </a:buClr>
              <a:buSzPts val="5000"/>
              <a:buFont typeface="Arial"/>
              <a:buNone/>
            </a:pPr>
            <a:r>
              <a:rPr lang="en-US" sz="5000" b="1" i="0" u="none" strike="noStrike" cap="none">
                <a:solidFill>
                  <a:srgbClr val="6D28D9"/>
                </a:solidFill>
                <a:latin typeface="Arial"/>
                <a:ea typeface="Arial"/>
                <a:cs typeface="Arial"/>
                <a:sym typeface="Arial"/>
              </a:rPr>
              <a:t>Hackathon</a:t>
            </a:r>
            <a:endParaRPr sz="50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2500"/>
              <a:buFont typeface="Arial"/>
              <a:buNone/>
            </a:pPr>
            <a:r>
              <a:rPr lang="en-US" sz="2500" b="1" i="0" u="none" strike="noStrike" cap="none">
                <a:solidFill>
                  <a:srgbClr val="14142B"/>
                </a:solidFill>
                <a:latin typeface="Arial"/>
                <a:ea typeface="Arial"/>
                <a:cs typeface="Arial"/>
                <a:sym typeface="Arial"/>
              </a:rPr>
              <a:t>3rd Edition</a:t>
            </a:r>
            <a:r>
              <a:rPr lang="en-US" sz="2000" b="0" i="0" u="none" strike="noStrike" cap="none">
                <a:solidFill>
                  <a:srgbClr val="63637E"/>
                </a:solidFill>
                <a:latin typeface="Calibri"/>
                <a:ea typeface="Calibri"/>
                <a:cs typeface="Calibri"/>
                <a:sym typeface="Calibri"/>
              </a:rPr>
              <a:t>   2026 – 27</a:t>
            </a:r>
            <a:endParaRPr sz="25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777240" y="3310128"/>
            <a:ext cx="6144768" cy="301752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63637E"/>
              </a:buClr>
              <a:buSzPts val="1600"/>
              <a:buFont typeface="Calibri"/>
              <a:buChar char="•"/>
            </a:pPr>
            <a:r>
              <a:rPr lang="en-US" sz="1600" dirty="0">
                <a:solidFill>
                  <a:srgbClr val="63637E"/>
                </a:solidFill>
                <a:latin typeface="Calibri"/>
                <a:ea typeface="Calibri"/>
                <a:cs typeface="Calibri"/>
                <a:sym typeface="Calibri"/>
              </a:rPr>
              <a:t>Theme ID - </a:t>
            </a:r>
            <a:r>
              <a:rPr lang="en-US" sz="1600" dirty="0">
                <a:solidFill>
                  <a:srgbClr val="14142B"/>
                </a:solidFill>
                <a:latin typeface="Calibri"/>
                <a:ea typeface="Calibri"/>
                <a:cs typeface="Calibri"/>
                <a:sym typeface="Calibri"/>
              </a:rPr>
              <a:t>05, Interruptible Real-Time Agents</a:t>
            </a:r>
            <a:endParaRPr lang="en-US" sz="1600" dirty="0"/>
          </a:p>
          <a:p>
            <a:pPr marL="177800" marR="0" lvl="0" indent="-177800" algn="l" rtl="0">
              <a:spcBef>
                <a:spcPts val="500"/>
              </a:spcBef>
              <a:spcAft>
                <a:spcPts val="0"/>
              </a:spcAft>
              <a:buClr>
                <a:srgbClr val="63637E"/>
              </a:buClr>
              <a:buSzPts val="1600"/>
              <a:buFont typeface="Calibri"/>
              <a:buChar char="•"/>
            </a:pPr>
            <a:r>
              <a:rPr lang="en-US" sz="1600" dirty="0">
                <a:solidFill>
                  <a:srgbClr val="63637E"/>
                </a:solidFill>
                <a:latin typeface="Calibri"/>
                <a:ea typeface="Calibri"/>
                <a:cs typeface="Calibri"/>
                <a:sym typeface="Calibri"/>
              </a:rPr>
              <a:t>Project - </a:t>
            </a:r>
            <a:r>
              <a:rPr lang="en-US" sz="1600" b="1" dirty="0">
                <a:solidFill>
                  <a:srgbClr val="6D28D9"/>
                </a:solidFill>
                <a:latin typeface="Calibri"/>
                <a:ea typeface="Calibri"/>
                <a:cs typeface="Calibri"/>
                <a:sym typeface="Calibri"/>
              </a:rPr>
              <a:t>Truth-Gated Voice</a:t>
            </a:r>
            <a:endParaRPr lang="en-US" sz="1600" dirty="0"/>
          </a:p>
          <a:p>
            <a:pPr marL="177800" marR="0" lvl="0" indent="-177800" algn="l" rtl="0">
              <a:spcBef>
                <a:spcPts val="500"/>
              </a:spcBef>
              <a:spcAft>
                <a:spcPts val="0"/>
              </a:spcAft>
              <a:buClr>
                <a:srgbClr val="63637E"/>
              </a:buClr>
              <a:buSzPts val="1600"/>
              <a:buFont typeface="Calibri"/>
              <a:buChar char="•"/>
            </a:pPr>
            <a:r>
              <a:rPr lang="en-US" sz="1600" dirty="0">
                <a:solidFill>
                  <a:srgbClr val="63637E"/>
                </a:solidFill>
                <a:latin typeface="Calibri"/>
                <a:ea typeface="Calibri"/>
                <a:cs typeface="Calibri"/>
                <a:sym typeface="Calibri"/>
              </a:rPr>
              <a:t>Team Name – </a:t>
            </a:r>
            <a:r>
              <a:rPr lang="en-US" sz="1600" dirty="0">
                <a:solidFill>
                  <a:schemeClr val="tx1"/>
                </a:solidFill>
                <a:latin typeface="Calibri"/>
                <a:ea typeface="Calibri"/>
                <a:cs typeface="Calibri"/>
                <a:sym typeface="Calibri"/>
              </a:rPr>
              <a:t>Final Destination</a:t>
            </a:r>
            <a:endParaRPr lang="en-US" sz="1600" dirty="0">
              <a:solidFill>
                <a:schemeClr val="tx1"/>
              </a:solidFill>
            </a:endParaRPr>
          </a:p>
          <a:p>
            <a:pPr marL="177800" marR="0" lvl="0" indent="-177800" algn="l" rtl="0">
              <a:spcBef>
                <a:spcPts val="500"/>
              </a:spcBef>
              <a:spcAft>
                <a:spcPts val="0"/>
              </a:spcAft>
              <a:buClr>
                <a:srgbClr val="63637E"/>
              </a:buClr>
              <a:buSzPts val="1600"/>
              <a:buFont typeface="Calibri"/>
              <a:buChar char="•"/>
            </a:pPr>
            <a:r>
              <a:rPr lang="en-US" sz="1600" dirty="0">
                <a:solidFill>
                  <a:srgbClr val="63637E"/>
                </a:solidFill>
                <a:latin typeface="Calibri"/>
                <a:ea typeface="Calibri"/>
                <a:cs typeface="Calibri"/>
                <a:sym typeface="Calibri"/>
              </a:rPr>
              <a:t>College Name - </a:t>
            </a:r>
            <a:r>
              <a:rPr lang="en-US" sz="1600" dirty="0">
                <a:solidFill>
                  <a:srgbClr val="14142B"/>
                </a:solidFill>
                <a:latin typeface="Calibri"/>
                <a:ea typeface="Calibri"/>
                <a:cs typeface="Calibri"/>
                <a:sym typeface="Calibri"/>
              </a:rPr>
              <a:t>Thapar Institute of Engineering &amp; Technology</a:t>
            </a:r>
            <a:endParaRPr lang="en-US" sz="1600" dirty="0"/>
          </a:p>
          <a:p>
            <a:pPr marL="177800" marR="0" lvl="0" indent="-177800" algn="l" rtl="0">
              <a:spcBef>
                <a:spcPts val="500"/>
              </a:spcBef>
              <a:spcAft>
                <a:spcPts val="0"/>
              </a:spcAft>
              <a:buClr>
                <a:srgbClr val="63637E"/>
              </a:buClr>
              <a:buSzPts val="1600"/>
              <a:buFont typeface="Calibri"/>
              <a:buChar char="•"/>
            </a:pPr>
            <a:r>
              <a:rPr lang="en-US" sz="1600" dirty="0">
                <a:solidFill>
                  <a:srgbClr val="63637E"/>
                </a:solidFill>
                <a:latin typeface="Calibri"/>
                <a:ea typeface="Calibri"/>
                <a:cs typeface="Calibri"/>
                <a:sym typeface="Calibri"/>
              </a:rPr>
              <a:t>Member Name &amp; Email 1- </a:t>
            </a:r>
            <a:r>
              <a:rPr lang="en-US" sz="1600" dirty="0">
                <a:solidFill>
                  <a:srgbClr val="14142B"/>
                </a:solidFill>
                <a:latin typeface="Calibri"/>
                <a:ea typeface="Calibri"/>
                <a:cs typeface="Calibri"/>
                <a:sym typeface="Calibri"/>
              </a:rPr>
              <a:t>Bhoomi Mahna bmahna_be24@thapar.edu</a:t>
            </a:r>
            <a:endParaRPr lang="en-US" sz="1600" dirty="0"/>
          </a:p>
          <a:p>
            <a:pPr marL="177800" marR="0" lvl="0" indent="-177800" algn="l" rtl="0">
              <a:spcBef>
                <a:spcPts val="500"/>
              </a:spcBef>
              <a:spcAft>
                <a:spcPts val="0"/>
              </a:spcAft>
              <a:buClr>
                <a:srgbClr val="63637E"/>
              </a:buClr>
              <a:buSzPts val="1600"/>
              <a:buFont typeface="Calibri"/>
              <a:buChar char="•"/>
            </a:pPr>
            <a:r>
              <a:rPr lang="en-US" sz="1600" dirty="0">
                <a:solidFill>
                  <a:srgbClr val="63637E"/>
                </a:solidFill>
                <a:latin typeface="Calibri"/>
                <a:ea typeface="Calibri"/>
                <a:cs typeface="Calibri"/>
                <a:sym typeface="Calibri"/>
              </a:rPr>
              <a:t>Member Name &amp; Email 2- </a:t>
            </a:r>
            <a:r>
              <a:rPr lang="en-US" sz="1600" dirty="0">
                <a:solidFill>
                  <a:schemeClr val="tx1"/>
                </a:solidFill>
                <a:latin typeface="Calibri"/>
                <a:ea typeface="Calibri"/>
                <a:cs typeface="Calibri"/>
                <a:sym typeface="Calibri"/>
              </a:rPr>
              <a:t>Krishna Gautam kgautam_be24@thapar.edu</a:t>
            </a:r>
            <a:endParaRPr lang="en-US" sz="1600" dirty="0">
              <a:solidFill>
                <a:schemeClr val="tx1"/>
              </a:solidFill>
            </a:endParaRPr>
          </a:p>
          <a:p>
            <a:pPr marL="177800" marR="0" lvl="0" indent="-177800" algn="l" rtl="0">
              <a:spcBef>
                <a:spcPts val="500"/>
              </a:spcBef>
              <a:spcAft>
                <a:spcPts val="0"/>
              </a:spcAft>
              <a:buClr>
                <a:srgbClr val="63637E"/>
              </a:buClr>
              <a:buSzPts val="1600"/>
              <a:buFont typeface="Calibri"/>
              <a:buChar char="•"/>
            </a:pPr>
            <a:r>
              <a:rPr lang="en-US" sz="1600" dirty="0">
                <a:solidFill>
                  <a:srgbClr val="63637E"/>
                </a:solidFill>
                <a:latin typeface="Calibri"/>
                <a:ea typeface="Calibri"/>
                <a:cs typeface="Calibri"/>
                <a:sym typeface="Calibri"/>
              </a:rPr>
              <a:t>Member Name &amp; Email 3- </a:t>
            </a:r>
            <a:endParaRPr lang="en-US" sz="1600" dirty="0"/>
          </a:p>
          <a:p>
            <a:pPr marL="177800" marR="0" lvl="0" indent="-177800" algn="l" rtl="0">
              <a:spcBef>
                <a:spcPts val="500"/>
              </a:spcBef>
              <a:spcAft>
                <a:spcPts val="0"/>
              </a:spcAft>
              <a:buClr>
                <a:srgbClr val="63637E"/>
              </a:buClr>
              <a:buSzPts val="1600"/>
              <a:buFont typeface="Calibri"/>
              <a:buChar char="•"/>
            </a:pPr>
            <a:r>
              <a:rPr lang="en-US" sz="1600" dirty="0">
                <a:solidFill>
                  <a:srgbClr val="63637E"/>
                </a:solidFill>
                <a:latin typeface="Calibri"/>
                <a:ea typeface="Calibri"/>
                <a:cs typeface="Calibri"/>
                <a:sym typeface="Calibri"/>
              </a:rPr>
              <a:t>Member Name &amp; Email 4- </a:t>
            </a:r>
            <a:endParaRPr lang="en-US" sz="1600" dirty="0"/>
          </a:p>
          <a:p>
            <a:pPr marL="177800" marR="0" lvl="0" indent="-177800" algn="l" rtl="0">
              <a:spcBef>
                <a:spcPts val="500"/>
              </a:spcBef>
              <a:spcAft>
                <a:spcPts val="0"/>
              </a:spcAft>
              <a:buClr>
                <a:srgbClr val="63637E"/>
              </a:buClr>
              <a:buSzPts val="1600"/>
              <a:buFont typeface="Calibri"/>
              <a:buChar char="•"/>
            </a:pPr>
            <a:r>
              <a:rPr lang="en-US" sz="1600" dirty="0">
                <a:solidFill>
                  <a:srgbClr val="63637E"/>
                </a:solidFill>
                <a:latin typeface="Calibri"/>
                <a:ea typeface="Calibri"/>
                <a:cs typeface="Calibri"/>
                <a:sym typeface="Calibri"/>
              </a:rPr>
              <a:t>Submission Github link - </a:t>
            </a:r>
            <a:endParaRPr lang="en-US" sz="1600" dirty="0"/>
          </a:p>
        </p:txBody>
      </p:sp>
      <p:pic>
        <p:nvPicPr>
          <p:cNvPr id="96" name="Google Shape;96;p1" descr="hero_network.png"/>
          <p:cNvPicPr preferRelativeResize="0"/>
          <p:nvPr/>
        </p:nvPicPr>
        <p:blipFill rotWithShape="1">
          <a:blip r:embed="rId3">
            <a:alphaModFix/>
          </a:blip>
          <a:srcRect/>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Theme</a:t>
            </a:r>
            <a:endParaRPr/>
          </a:p>
        </p:txBody>
      </p:sp>
      <p:sp>
        <p:nvSpPr>
          <p:cNvPr id="301" name="Theme pill"/>
          <p:cNvSpPr/>
          <p:nvPr/>
        </p:nvSpPr>
        <p:spPr>
          <a:xfrm>
            <a:off x="932688" y="1783080"/>
            <a:ext cx="1325880" cy="310896"/>
          </a:xfrm>
          <a:prstGeom prst="roundRect">
            <a:avLst>
              <a:gd name="adj" fmla="val 50000"/>
            </a:avLst>
          </a:prstGeom>
          <a:solidFill>
            <a:srgbClr val="FFFFFF"/>
          </a:solidFill>
          <a:ln w="12700">
            <a:solidFill>
              <a:srgbClr val="D9D3F0"/>
            </a:solidFill>
          </a:ln>
        </p:spPr>
        <p:txBody>
          <a:bodyPr wrap="square" lIns="0" tIns="0" rIns="0" bIns="0" rtlCol="0" anchor="ctr">
            <a:noAutofit/>
          </a:bodyPr>
          <a:lstStyle/>
          <a:p>
            <a:pPr marL="0" indent="0" algn="ctr">
              <a:spcBef>
                <a:spcPts val="0"/>
              </a:spcBef>
              <a:spcAft>
                <a:spcPts val="0"/>
              </a:spcAft>
              <a:buNone/>
            </a:pPr>
            <a:r>
              <a:rPr lang="en-US" sz="1100" b="1" spc="100" dirty="0">
                <a:solidFill>
                  <a:srgbClr val="6D28D9"/>
                </a:solidFill>
                <a:latin typeface="Arial"/>
                <a:ea typeface="Arial"/>
                <a:cs typeface="Arial"/>
                <a:sym typeface="Arial"/>
              </a:rPr>
              <a:t>THEME 05</a:t>
            </a:r>
            <a:endParaRPr lang="en-US" sz="1100" dirty="0"/>
          </a:p>
        </p:txBody>
      </p:sp>
      <p:sp>
        <p:nvSpPr>
          <p:cNvPr id="302" name="Shape 302"/>
          <p:cNvSpPr txBox="1"/>
          <p:nvPr/>
        </p:nvSpPr>
        <p:spPr>
          <a:xfrm>
            <a:off x="932688" y="2240280"/>
            <a:ext cx="5532120" cy="50292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2600" b="1" dirty="0">
                <a:solidFill>
                  <a:srgbClr val="14142B"/>
                </a:solidFill>
                <a:latin typeface="Arial"/>
                <a:ea typeface="Arial"/>
                <a:cs typeface="Arial"/>
                <a:sym typeface="Arial"/>
              </a:rPr>
              <a:t>Interruptible Real-Time Agents</a:t>
            </a:r>
            <a:endParaRPr lang="en-US" sz="2600" dirty="0"/>
          </a:p>
        </p:txBody>
      </p:sp>
      <p:sp>
        <p:nvSpPr>
          <p:cNvPr id="303" name="Shape 303"/>
          <p:cNvSpPr txBox="1"/>
          <p:nvPr/>
        </p:nvSpPr>
        <p:spPr>
          <a:xfrm>
            <a:off x="932688" y="2880360"/>
            <a:ext cx="5257800" cy="3291840"/>
          </a:xfrm>
          <a:prstGeom prst="rect">
            <a:avLst/>
          </a:prstGeom>
          <a:noFill/>
          <a:ln>
            <a:noFill/>
          </a:ln>
        </p:spPr>
        <p:txBody>
          <a:bodyPr wrap="square" lIns="0" tIns="0" rIns="0" bIns="0" rtlCol="0" anchor="t">
            <a:noAutofit/>
          </a:bodyPr>
          <a:lstStyle/>
          <a:p>
            <a:pPr marL="0" indent="0" algn="l">
              <a:lnSpc>
                <a:spcPct val="110000"/>
              </a:lnSpc>
              <a:spcBef>
                <a:spcPts val="0"/>
              </a:spcBef>
              <a:spcAft>
                <a:spcPts val="1000"/>
              </a:spcAft>
              <a:buNone/>
            </a:pPr>
            <a:r>
              <a:rPr lang="en-US" sz="1500" dirty="0">
                <a:solidFill>
                  <a:srgbClr val="63637E"/>
                </a:solidFill>
                <a:latin typeface="Calibri"/>
                <a:ea typeface="Calibri"/>
                <a:cs typeface="Calibri"/>
                <a:sym typeface="Calibri"/>
              </a:rPr>
              <a:t>Most voice assistants still take turns: listen, think, then speak. People don’t talk like that. We cut in, change our minds halfway, and fix what we said mid-sentence.</a:t>
            </a:r>
            <a:endParaRPr lang="en-US" sz="1500" dirty="0"/>
          </a:p>
          <a:p>
            <a:pPr marL="0" indent="0" algn="l">
              <a:lnSpc>
                <a:spcPct val="110000"/>
              </a:lnSpc>
              <a:spcBef>
                <a:spcPts val="0"/>
              </a:spcBef>
              <a:spcAft>
                <a:spcPts val="1800"/>
              </a:spcAft>
              <a:buNone/>
            </a:pPr>
            <a:r>
              <a:rPr lang="en-US" sz="1500" dirty="0">
                <a:solidFill>
                  <a:srgbClr val="63637E"/>
                </a:solidFill>
                <a:latin typeface="Calibri"/>
                <a:ea typeface="Calibri"/>
                <a:cs typeface="Calibri"/>
                <a:sym typeface="Calibri"/>
              </a:rPr>
              <a:t>The theme asks for an agent that listens, calls tools and speaks at the same time, and stays correct while the conversation shifts under it.</a:t>
            </a:r>
            <a:endParaRPr lang="en-US" sz="1500" dirty="0"/>
          </a:p>
          <a:p>
            <a:pPr marL="0" indent="0" algn="l">
              <a:spcBef>
                <a:spcPts val="0"/>
              </a:spcBef>
              <a:spcAft>
                <a:spcPts val="400"/>
              </a:spcAft>
              <a:buNone/>
            </a:pPr>
            <a:r>
              <a:rPr lang="en-US" sz="1500" b="1" dirty="0">
                <a:solidFill>
                  <a:srgbClr val="14142B"/>
                </a:solidFill>
                <a:latin typeface="Calibri"/>
                <a:ea typeface="Calibri"/>
                <a:cs typeface="Calibri"/>
                <a:sym typeface="Calibri"/>
              </a:rPr>
              <a:t>The part we picked</a:t>
            </a:r>
            <a:endParaRPr lang="en-US" sz="1500" dirty="0"/>
          </a:p>
          <a:p>
            <a:pPr marL="0" indent="0" algn="l">
              <a:lnSpc>
                <a:spcPct val="110000"/>
              </a:lnSpc>
              <a:spcBef>
                <a:spcPts val="0"/>
              </a:spcBef>
              <a:spcAft>
                <a:spcPts val="0"/>
              </a:spcAft>
              <a:buNone/>
            </a:pPr>
            <a:r>
              <a:rPr lang="en-US" sz="1500" dirty="0">
                <a:solidFill>
                  <a:srgbClr val="63637E"/>
                </a:solidFill>
                <a:latin typeface="Calibri"/>
                <a:ea typeface="Calibri"/>
                <a:cs typeface="Calibri"/>
                <a:sym typeface="Calibri"/>
              </a:rPr>
              <a:t>What the agent says out loud. An agent that says “done” before anything is done is worse than a slow one. </a:t>
            </a:r>
            <a:r>
              <a:rPr lang="en-US" sz="1500" b="1" dirty="0">
                <a:solidFill>
                  <a:srgbClr val="6D28D9"/>
                </a:solidFill>
                <a:latin typeface="Calibri"/>
                <a:ea typeface="Calibri"/>
                <a:cs typeface="Calibri"/>
                <a:sym typeface="Calibri"/>
              </a:rPr>
              <a:t>Ours only says what it can prove.</a:t>
            </a:r>
            <a:endParaRPr lang="en-US" sz="1500" dirty="0"/>
          </a:p>
        </p:txBody>
      </p:sp>
      <p:sp>
        <p:nvSpPr>
          <p:cNvPr id="304" name="Shape 304"/>
          <p:cNvSpPr txBox="1"/>
          <p:nvPr/>
        </p:nvSpPr>
        <p:spPr>
          <a:xfrm>
            <a:off x="6903720" y="1783080"/>
            <a:ext cx="4361688" cy="31089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500" b="1" dirty="0">
                <a:solidFill>
                  <a:srgbClr val="14142B"/>
                </a:solidFill>
                <a:latin typeface="Calibri"/>
                <a:ea typeface="Calibri"/>
                <a:cs typeface="Calibri"/>
                <a:sym typeface="Calibri"/>
              </a:rPr>
              <a:t>How each scenario is scored</a:t>
            </a:r>
            <a:endParaRPr lang="en-US" sz="1500" dirty="0"/>
          </a:p>
        </p:txBody>
      </p:sp>
      <p:sp>
        <p:nvSpPr>
          <p:cNvPr id="305" name="Shape 305"/>
          <p:cNvSpPr txBox="1"/>
          <p:nvPr/>
        </p:nvSpPr>
        <p:spPr>
          <a:xfrm>
            <a:off x="6903720" y="2286000"/>
            <a:ext cx="3630168" cy="256032"/>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1300" dirty="0">
                <a:solidFill>
                  <a:srgbClr val="14142B"/>
                </a:solidFill>
                <a:latin typeface="Calibri"/>
                <a:ea typeface="Calibri"/>
                <a:cs typeface="Calibri"/>
                <a:sym typeface="Calibri"/>
              </a:rPr>
              <a:t>Task completion</a:t>
            </a:r>
            <a:endParaRPr lang="en-US" sz="1300" dirty="0"/>
          </a:p>
        </p:txBody>
      </p:sp>
      <p:sp>
        <p:nvSpPr>
          <p:cNvPr id="306" name="Shape 306"/>
          <p:cNvSpPr txBox="1"/>
          <p:nvPr/>
        </p:nvSpPr>
        <p:spPr>
          <a:xfrm>
            <a:off x="10533888" y="2286000"/>
            <a:ext cx="731520" cy="256032"/>
          </a:xfrm>
          <a:prstGeom prst="rect">
            <a:avLst/>
          </a:prstGeom>
          <a:noFill/>
          <a:ln>
            <a:noFill/>
          </a:ln>
        </p:spPr>
        <p:txBody>
          <a:bodyPr wrap="square" lIns="0" tIns="0" rIns="0" bIns="0" rtlCol="0" anchor="b">
            <a:noAutofit/>
          </a:bodyPr>
          <a:lstStyle/>
          <a:p>
            <a:pPr marL="0" indent="0" algn="r">
              <a:spcBef>
                <a:spcPts val="0"/>
              </a:spcBef>
              <a:spcAft>
                <a:spcPts val="0"/>
              </a:spcAft>
              <a:buNone/>
            </a:pPr>
            <a:r>
              <a:rPr lang="en-US" sz="1300" b="1" dirty="0">
                <a:solidFill>
                  <a:srgbClr val="14142B"/>
                </a:solidFill>
                <a:latin typeface="Calibri"/>
                <a:ea typeface="Calibri"/>
                <a:cs typeface="Calibri"/>
                <a:sym typeface="Calibri"/>
              </a:rPr>
              <a:t>40%</a:t>
            </a:r>
            <a:endParaRPr lang="en-US" sz="1300" dirty="0"/>
          </a:p>
        </p:txBody>
      </p:sp>
      <p:sp>
        <p:nvSpPr>
          <p:cNvPr id="307" name="Bar track"/>
          <p:cNvSpPr/>
          <p:nvPr/>
        </p:nvSpPr>
        <p:spPr>
          <a:xfrm>
            <a:off x="6903720" y="2624328"/>
            <a:ext cx="4361688" cy="91440"/>
          </a:xfrm>
          <a:prstGeom prst="roundRect">
            <a:avLst>
              <a:gd name="adj" fmla="val 50000"/>
            </a:avLst>
          </a:prstGeom>
          <a:solidFill>
            <a:srgbClr val="EDE9FE"/>
          </a:solidFill>
          <a:ln>
            <a:noFill/>
          </a:ln>
        </p:spPr>
        <p:txBody>
          <a:bodyPr wrap="square" lIns="0" tIns="0" rIns="0" bIns="0" rtlCol="0" anchor="t">
            <a:noAutofit/>
          </a:bodyPr>
          <a:lstStyle/>
          <a:p>
            <a:endParaRPr lang="en-US" dirty="0"/>
          </a:p>
        </p:txBody>
      </p:sp>
      <p:sp>
        <p:nvSpPr>
          <p:cNvPr id="308" name="Bar"/>
          <p:cNvSpPr/>
          <p:nvPr/>
        </p:nvSpPr>
        <p:spPr>
          <a:xfrm>
            <a:off x="6903720" y="2624328"/>
            <a:ext cx="1744675" cy="91440"/>
          </a:xfrm>
          <a:prstGeom prst="roundRect">
            <a:avLst>
              <a:gd name="adj" fmla="val 50000"/>
            </a:avLst>
          </a:prstGeom>
          <a:solidFill>
            <a:srgbClr val="6D28D9"/>
          </a:solidFill>
          <a:ln>
            <a:noFill/>
          </a:ln>
        </p:spPr>
        <p:txBody>
          <a:bodyPr wrap="square" lIns="0" tIns="0" rIns="0" bIns="0" rtlCol="0" anchor="t">
            <a:noAutofit/>
          </a:bodyPr>
          <a:lstStyle/>
          <a:p>
            <a:endParaRPr lang="en-US" dirty="0"/>
          </a:p>
        </p:txBody>
      </p:sp>
      <p:sp>
        <p:nvSpPr>
          <p:cNvPr id="309" name="Shape 309"/>
          <p:cNvSpPr txBox="1"/>
          <p:nvPr/>
        </p:nvSpPr>
        <p:spPr>
          <a:xfrm>
            <a:off x="6903720" y="2889504"/>
            <a:ext cx="3630168" cy="256032"/>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1300" dirty="0">
                <a:solidFill>
                  <a:srgbClr val="14142B"/>
                </a:solidFill>
                <a:latin typeface="Calibri"/>
                <a:ea typeface="Calibri"/>
                <a:cs typeface="Calibri"/>
                <a:sym typeface="Calibri"/>
              </a:rPr>
              <a:t>Interruption recovery</a:t>
            </a:r>
            <a:endParaRPr lang="en-US" sz="1300" dirty="0"/>
          </a:p>
        </p:txBody>
      </p:sp>
      <p:sp>
        <p:nvSpPr>
          <p:cNvPr id="310" name="Shape 310"/>
          <p:cNvSpPr txBox="1"/>
          <p:nvPr/>
        </p:nvSpPr>
        <p:spPr>
          <a:xfrm>
            <a:off x="10533888" y="2889504"/>
            <a:ext cx="731520" cy="256032"/>
          </a:xfrm>
          <a:prstGeom prst="rect">
            <a:avLst/>
          </a:prstGeom>
          <a:noFill/>
          <a:ln>
            <a:noFill/>
          </a:ln>
        </p:spPr>
        <p:txBody>
          <a:bodyPr wrap="square" lIns="0" tIns="0" rIns="0" bIns="0" rtlCol="0" anchor="b">
            <a:noAutofit/>
          </a:bodyPr>
          <a:lstStyle/>
          <a:p>
            <a:pPr marL="0" indent="0" algn="r">
              <a:spcBef>
                <a:spcPts val="0"/>
              </a:spcBef>
              <a:spcAft>
                <a:spcPts val="0"/>
              </a:spcAft>
              <a:buNone/>
            </a:pPr>
            <a:r>
              <a:rPr lang="en-US" sz="1300" b="1" dirty="0">
                <a:solidFill>
                  <a:srgbClr val="14142B"/>
                </a:solidFill>
                <a:latin typeface="Calibri"/>
                <a:ea typeface="Calibri"/>
                <a:cs typeface="Calibri"/>
                <a:sym typeface="Calibri"/>
              </a:rPr>
              <a:t>35%</a:t>
            </a:r>
            <a:endParaRPr lang="en-US" sz="1300" dirty="0"/>
          </a:p>
        </p:txBody>
      </p:sp>
      <p:sp>
        <p:nvSpPr>
          <p:cNvPr id="311" name="Bar track"/>
          <p:cNvSpPr/>
          <p:nvPr/>
        </p:nvSpPr>
        <p:spPr>
          <a:xfrm>
            <a:off x="6903720" y="3227832"/>
            <a:ext cx="4361688" cy="91440"/>
          </a:xfrm>
          <a:prstGeom prst="roundRect">
            <a:avLst>
              <a:gd name="adj" fmla="val 50000"/>
            </a:avLst>
          </a:prstGeom>
          <a:solidFill>
            <a:srgbClr val="EDE9FE"/>
          </a:solidFill>
          <a:ln>
            <a:noFill/>
          </a:ln>
        </p:spPr>
        <p:txBody>
          <a:bodyPr wrap="square" lIns="0" tIns="0" rIns="0" bIns="0" rtlCol="0" anchor="t">
            <a:noAutofit/>
          </a:bodyPr>
          <a:lstStyle/>
          <a:p>
            <a:endParaRPr lang="en-US" dirty="0"/>
          </a:p>
        </p:txBody>
      </p:sp>
      <p:sp>
        <p:nvSpPr>
          <p:cNvPr id="312" name="Bar"/>
          <p:cNvSpPr/>
          <p:nvPr/>
        </p:nvSpPr>
        <p:spPr>
          <a:xfrm>
            <a:off x="6903720" y="3227832"/>
            <a:ext cx="1526591" cy="91440"/>
          </a:xfrm>
          <a:prstGeom prst="roundRect">
            <a:avLst>
              <a:gd name="adj" fmla="val 50000"/>
            </a:avLst>
          </a:prstGeom>
          <a:solidFill>
            <a:srgbClr val="6D28D9"/>
          </a:solidFill>
          <a:ln>
            <a:noFill/>
          </a:ln>
        </p:spPr>
        <p:txBody>
          <a:bodyPr wrap="square" lIns="0" tIns="0" rIns="0" bIns="0" rtlCol="0" anchor="t">
            <a:noAutofit/>
          </a:bodyPr>
          <a:lstStyle/>
          <a:p>
            <a:endParaRPr lang="en-US" dirty="0"/>
          </a:p>
        </p:txBody>
      </p:sp>
      <p:sp>
        <p:nvSpPr>
          <p:cNvPr id="313" name="Shape 313"/>
          <p:cNvSpPr txBox="1"/>
          <p:nvPr/>
        </p:nvSpPr>
        <p:spPr>
          <a:xfrm>
            <a:off x="6903720" y="3493008"/>
            <a:ext cx="3630168" cy="256032"/>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1300" dirty="0">
                <a:solidFill>
                  <a:srgbClr val="14142B"/>
                </a:solidFill>
                <a:latin typeface="Calibri"/>
                <a:ea typeface="Calibri"/>
                <a:cs typeface="Calibri"/>
                <a:sym typeface="Calibri"/>
              </a:rPr>
              <a:t>Response latency</a:t>
            </a:r>
            <a:endParaRPr lang="en-US" sz="1300" dirty="0"/>
          </a:p>
        </p:txBody>
      </p:sp>
      <p:sp>
        <p:nvSpPr>
          <p:cNvPr id="314" name="Shape 314"/>
          <p:cNvSpPr txBox="1"/>
          <p:nvPr/>
        </p:nvSpPr>
        <p:spPr>
          <a:xfrm>
            <a:off x="10533888" y="3493008"/>
            <a:ext cx="731520" cy="256032"/>
          </a:xfrm>
          <a:prstGeom prst="rect">
            <a:avLst/>
          </a:prstGeom>
          <a:noFill/>
          <a:ln>
            <a:noFill/>
          </a:ln>
        </p:spPr>
        <p:txBody>
          <a:bodyPr wrap="square" lIns="0" tIns="0" rIns="0" bIns="0" rtlCol="0" anchor="b">
            <a:noAutofit/>
          </a:bodyPr>
          <a:lstStyle/>
          <a:p>
            <a:pPr marL="0" indent="0" algn="r">
              <a:spcBef>
                <a:spcPts val="0"/>
              </a:spcBef>
              <a:spcAft>
                <a:spcPts val="0"/>
              </a:spcAft>
              <a:buNone/>
            </a:pPr>
            <a:r>
              <a:rPr lang="en-US" sz="1300" b="1" dirty="0">
                <a:solidFill>
                  <a:srgbClr val="14142B"/>
                </a:solidFill>
                <a:latin typeface="Calibri"/>
                <a:ea typeface="Calibri"/>
                <a:cs typeface="Calibri"/>
                <a:sym typeface="Calibri"/>
              </a:rPr>
              <a:t>15%</a:t>
            </a:r>
            <a:endParaRPr lang="en-US" sz="1300" dirty="0"/>
          </a:p>
        </p:txBody>
      </p:sp>
      <p:sp>
        <p:nvSpPr>
          <p:cNvPr id="315" name="Bar track"/>
          <p:cNvSpPr/>
          <p:nvPr/>
        </p:nvSpPr>
        <p:spPr>
          <a:xfrm>
            <a:off x="6903720" y="3831336"/>
            <a:ext cx="4361688" cy="91440"/>
          </a:xfrm>
          <a:prstGeom prst="roundRect">
            <a:avLst>
              <a:gd name="adj" fmla="val 50000"/>
            </a:avLst>
          </a:prstGeom>
          <a:solidFill>
            <a:srgbClr val="EDE9FE"/>
          </a:solidFill>
          <a:ln>
            <a:noFill/>
          </a:ln>
        </p:spPr>
        <p:txBody>
          <a:bodyPr wrap="square" lIns="0" tIns="0" rIns="0" bIns="0" rtlCol="0" anchor="t">
            <a:noAutofit/>
          </a:bodyPr>
          <a:lstStyle/>
          <a:p>
            <a:endParaRPr lang="en-US" dirty="0"/>
          </a:p>
        </p:txBody>
      </p:sp>
      <p:sp>
        <p:nvSpPr>
          <p:cNvPr id="316" name="Bar"/>
          <p:cNvSpPr/>
          <p:nvPr/>
        </p:nvSpPr>
        <p:spPr>
          <a:xfrm>
            <a:off x="6903720" y="3831336"/>
            <a:ext cx="654253" cy="91440"/>
          </a:xfrm>
          <a:prstGeom prst="roundRect">
            <a:avLst>
              <a:gd name="adj" fmla="val 50000"/>
            </a:avLst>
          </a:prstGeom>
          <a:solidFill>
            <a:srgbClr val="6D28D9"/>
          </a:solidFill>
          <a:ln>
            <a:noFill/>
          </a:ln>
        </p:spPr>
        <p:txBody>
          <a:bodyPr wrap="square" lIns="0" tIns="0" rIns="0" bIns="0" rtlCol="0" anchor="t">
            <a:noAutofit/>
          </a:bodyPr>
          <a:lstStyle/>
          <a:p>
            <a:endParaRPr lang="en-US" dirty="0"/>
          </a:p>
        </p:txBody>
      </p:sp>
      <p:sp>
        <p:nvSpPr>
          <p:cNvPr id="317" name="Shape 317"/>
          <p:cNvSpPr txBox="1"/>
          <p:nvPr/>
        </p:nvSpPr>
        <p:spPr>
          <a:xfrm>
            <a:off x="6903720" y="4096512"/>
            <a:ext cx="3630168" cy="256032"/>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1300" dirty="0">
                <a:solidFill>
                  <a:srgbClr val="14142B"/>
                </a:solidFill>
                <a:latin typeface="Calibri"/>
                <a:ea typeface="Calibri"/>
                <a:cs typeface="Calibri"/>
                <a:sym typeface="Calibri"/>
              </a:rPr>
              <a:t>Safety &amp; protocol</a:t>
            </a:r>
            <a:endParaRPr lang="en-US" sz="1300" dirty="0"/>
          </a:p>
        </p:txBody>
      </p:sp>
      <p:sp>
        <p:nvSpPr>
          <p:cNvPr id="318" name="Shape 318"/>
          <p:cNvSpPr txBox="1"/>
          <p:nvPr/>
        </p:nvSpPr>
        <p:spPr>
          <a:xfrm>
            <a:off x="10533888" y="4096512"/>
            <a:ext cx="731520" cy="256032"/>
          </a:xfrm>
          <a:prstGeom prst="rect">
            <a:avLst/>
          </a:prstGeom>
          <a:noFill/>
          <a:ln>
            <a:noFill/>
          </a:ln>
        </p:spPr>
        <p:txBody>
          <a:bodyPr wrap="square" lIns="0" tIns="0" rIns="0" bIns="0" rtlCol="0" anchor="b">
            <a:noAutofit/>
          </a:bodyPr>
          <a:lstStyle/>
          <a:p>
            <a:pPr marL="0" indent="0" algn="r">
              <a:spcBef>
                <a:spcPts val="0"/>
              </a:spcBef>
              <a:spcAft>
                <a:spcPts val="0"/>
              </a:spcAft>
              <a:buNone/>
            </a:pPr>
            <a:r>
              <a:rPr lang="en-US" sz="1300" b="1" dirty="0">
                <a:solidFill>
                  <a:srgbClr val="14142B"/>
                </a:solidFill>
                <a:latin typeface="Calibri"/>
                <a:ea typeface="Calibri"/>
                <a:cs typeface="Calibri"/>
                <a:sym typeface="Calibri"/>
              </a:rPr>
              <a:t>10%</a:t>
            </a:r>
            <a:endParaRPr lang="en-US" sz="1300" dirty="0"/>
          </a:p>
        </p:txBody>
      </p:sp>
      <p:sp>
        <p:nvSpPr>
          <p:cNvPr id="319" name="Bar track"/>
          <p:cNvSpPr/>
          <p:nvPr/>
        </p:nvSpPr>
        <p:spPr>
          <a:xfrm>
            <a:off x="6903720" y="4434840"/>
            <a:ext cx="4361688" cy="91440"/>
          </a:xfrm>
          <a:prstGeom prst="roundRect">
            <a:avLst>
              <a:gd name="adj" fmla="val 50000"/>
            </a:avLst>
          </a:prstGeom>
          <a:solidFill>
            <a:srgbClr val="EDE9FE"/>
          </a:solidFill>
          <a:ln>
            <a:noFill/>
          </a:ln>
        </p:spPr>
        <p:txBody>
          <a:bodyPr wrap="square" lIns="0" tIns="0" rIns="0" bIns="0" rtlCol="0" anchor="t">
            <a:noAutofit/>
          </a:bodyPr>
          <a:lstStyle/>
          <a:p>
            <a:endParaRPr lang="en-US" dirty="0"/>
          </a:p>
        </p:txBody>
      </p:sp>
      <p:sp>
        <p:nvSpPr>
          <p:cNvPr id="320" name="Bar"/>
          <p:cNvSpPr/>
          <p:nvPr/>
        </p:nvSpPr>
        <p:spPr>
          <a:xfrm>
            <a:off x="6903720" y="4434840"/>
            <a:ext cx="436169" cy="91440"/>
          </a:xfrm>
          <a:prstGeom prst="roundRect">
            <a:avLst>
              <a:gd name="adj" fmla="val 50000"/>
            </a:avLst>
          </a:prstGeom>
          <a:solidFill>
            <a:srgbClr val="6D28D9"/>
          </a:solidFill>
          <a:ln>
            <a:noFill/>
          </a:ln>
        </p:spPr>
        <p:txBody>
          <a:bodyPr wrap="square" lIns="0" tIns="0" rIns="0" bIns="0" rtlCol="0" anchor="t">
            <a:noAutofit/>
          </a:bodyPr>
          <a:lstStyle/>
          <a:p>
            <a:endParaRPr lang="en-US" dirty="0"/>
          </a:p>
        </p:txBody>
      </p:sp>
      <p:sp>
        <p:nvSpPr>
          <p:cNvPr id="321" name="Shape 321"/>
          <p:cNvSpPr txBox="1"/>
          <p:nvPr/>
        </p:nvSpPr>
        <p:spPr>
          <a:xfrm>
            <a:off x="6903720" y="4663440"/>
            <a:ext cx="4361688"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100" dirty="0">
                <a:solidFill>
                  <a:srgbClr val="63637E"/>
                </a:solidFill>
                <a:latin typeface="Calibri"/>
                <a:ea typeface="Calibri"/>
                <a:cs typeface="Calibri"/>
                <a:sym typeface="Calibri"/>
              </a:rPr>
              <a:t>Hidden set: about 60 scenarios. Half text, the rest audio and camera frames.</a:t>
            </a:r>
            <a:endParaRPr lang="en-US" sz="1100" dirty="0"/>
          </a:p>
        </p:txBody>
      </p:sp>
      <p:sp>
        <p:nvSpPr>
          <p:cNvPr id="322" name="Multiplier card"/>
          <p:cNvSpPr/>
          <p:nvPr/>
        </p:nvSpPr>
        <p:spPr>
          <a:xfrm>
            <a:off x="6903720" y="5029200"/>
            <a:ext cx="4361688" cy="1234440"/>
          </a:xfrm>
          <a:prstGeom prst="roundRect">
            <a:avLst>
              <a:gd name="adj" fmla="val 9000"/>
            </a:avLst>
          </a:prstGeom>
          <a:solidFill>
            <a:srgbClr val="F5F3FF"/>
          </a:solidFill>
          <a:ln>
            <a:noFill/>
          </a:ln>
        </p:spPr>
        <p:txBody>
          <a:bodyPr wrap="square" lIns="219456" tIns="91440" rIns="219456" bIns="91440" rtlCol="0" anchor="ctr">
            <a:noAutofit/>
          </a:bodyPr>
          <a:lstStyle/>
          <a:p>
            <a:pPr marL="0" indent="0" algn="l">
              <a:spcBef>
                <a:spcPts val="0"/>
              </a:spcBef>
              <a:spcAft>
                <a:spcPts val="0"/>
              </a:spcAft>
              <a:buNone/>
            </a:pPr>
            <a:r>
              <a:rPr lang="en-US" sz="2800" b="1" dirty="0">
                <a:solidFill>
                  <a:srgbClr val="6D28D9"/>
                </a:solidFill>
                <a:latin typeface="Arial"/>
                <a:ea typeface="Arial"/>
                <a:cs typeface="Arial"/>
                <a:sym typeface="Arial"/>
              </a:rPr>
              <a:t>0.8× to 1.2×</a:t>
            </a:r>
            <a:endParaRPr lang="en-US" sz="2800" dirty="0"/>
          </a:p>
          <a:p>
            <a:pPr marL="0" indent="0" algn="l">
              <a:lnSpc>
                <a:spcPct val="105000"/>
              </a:lnSpc>
              <a:spcBef>
                <a:spcPts val="400"/>
              </a:spcBef>
              <a:spcAft>
                <a:spcPts val="0"/>
              </a:spcAft>
              <a:buNone/>
            </a:pPr>
            <a:r>
              <a:rPr lang="en-US" sz="1200" dirty="0">
                <a:solidFill>
                  <a:srgbClr val="63637E"/>
                </a:solidFill>
                <a:latin typeface="Calibri"/>
                <a:ea typeface="Calibri"/>
                <a:cs typeface="Calibri"/>
                <a:sym typeface="Calibri"/>
              </a:rPr>
              <a:t>Quality multiplier on every scenario: naturalness, truthfulness, relevance. It’s the lever we pull hardest.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Existing Solutions &amp; Gaps</a:t>
            </a:r>
            <a:endParaRPr/>
          </a:p>
        </p:txBody>
      </p:sp>
      <p:graphicFrame>
        <p:nvGraphicFramePr>
          <p:cNvPr id="301" name="Table 301"/>
          <p:cNvGraphicFramePr>
            <a:graphicFrameLocks noGrp="1"/>
          </p:cNvGraphicFramePr>
          <p:nvPr/>
        </p:nvGraphicFramePr>
        <p:xfrm>
          <a:off x="932688" y="1645920"/>
          <a:ext cx="10332720" cy="3539744"/>
        </p:xfrm>
        <a:graphic>
          <a:graphicData uri="http://schemas.openxmlformats.org/drawingml/2006/table">
            <a:tbl>
              <a:tblPr/>
              <a:tblGrid>
                <a:gridCol w="301752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365760">
                <a:tc>
                  <a:txBody>
                    <a:bodyPr/>
                    <a:lstStyle/>
                    <a:p>
                      <a:pPr marL="0" indent="0" algn="l">
                        <a:spcBef>
                          <a:spcPts val="0"/>
                        </a:spcBef>
                        <a:spcAft>
                          <a:spcPts val="0"/>
                        </a:spcAft>
                        <a:buNone/>
                      </a:pPr>
                      <a:r>
                        <a:rPr lang="en-US" sz="1200" b="1" dirty="0">
                          <a:solidFill>
                            <a:srgbClr val="63637E"/>
                          </a:solidFill>
                          <a:latin typeface="Calibri"/>
                          <a:ea typeface="Calibri"/>
                          <a:cs typeface="Calibri"/>
                          <a:sym typeface="Calibri"/>
                        </a:rPr>
                        <a:t>Approach</a:t>
                      </a:r>
                      <a:endParaRPr lang="en-US" sz="1200" dirty="0"/>
                    </a:p>
                  </a:txBody>
                  <a:tcPr marL="109728" marR="109728" marT="36576" marB="73152" anchor="b">
                    <a:lnL w="12700" cap="flat" cmpd="sng" algn="ctr">
                      <a:noFill/>
                    </a:lnL>
                    <a:lnR w="12700" cap="flat" cmpd="sng" algn="ctr">
                      <a:noFill/>
                    </a:lnR>
                    <a:lnT w="12700" cap="flat" cmpd="sng" algn="ctr">
                      <a:noFill/>
                    </a:lnT>
                    <a:lnB w="15875" cap="flat" cmpd="sng" algn="ctr">
                      <a:solidFill>
                        <a:srgbClr val="D9D3F0"/>
                      </a:solidFill>
                      <a:prstDash val="solid"/>
                      <a:round/>
                      <a:headEnd type="none" w="med" len="med"/>
                      <a:tailEnd type="none" w="med" len="med"/>
                    </a:lnB>
                    <a:noFill/>
                  </a:tcPr>
                </a:tc>
                <a:tc>
                  <a:txBody>
                    <a:bodyPr/>
                    <a:lstStyle/>
                    <a:p>
                      <a:pPr marL="0" indent="0" algn="l">
                        <a:spcBef>
                          <a:spcPts val="0"/>
                        </a:spcBef>
                        <a:spcAft>
                          <a:spcPts val="0"/>
                        </a:spcAft>
                        <a:buNone/>
                      </a:pPr>
                      <a:r>
                        <a:rPr lang="en-US" sz="1200" b="1" dirty="0">
                          <a:solidFill>
                            <a:srgbClr val="63637E"/>
                          </a:solidFill>
                          <a:latin typeface="Calibri"/>
                          <a:ea typeface="Calibri"/>
                          <a:cs typeface="Calibri"/>
                          <a:sym typeface="Calibri"/>
                        </a:rPr>
                        <a:t>What it gets right</a:t>
                      </a:r>
                      <a:endParaRPr lang="en-US" sz="1200" dirty="0"/>
                    </a:p>
                  </a:txBody>
                  <a:tcPr marL="109728" marR="109728" marT="36576" marB="73152" anchor="b">
                    <a:lnL w="12700" cap="flat" cmpd="sng" algn="ctr">
                      <a:noFill/>
                    </a:lnL>
                    <a:lnR w="12700" cap="flat" cmpd="sng" algn="ctr">
                      <a:noFill/>
                    </a:lnR>
                    <a:lnT w="12700" cap="flat" cmpd="sng" algn="ctr">
                      <a:noFill/>
                    </a:lnT>
                    <a:lnB w="15875" cap="flat" cmpd="sng" algn="ctr">
                      <a:solidFill>
                        <a:srgbClr val="D9D3F0"/>
                      </a:solidFill>
                      <a:prstDash val="solid"/>
                      <a:round/>
                      <a:headEnd type="none" w="med" len="med"/>
                      <a:tailEnd type="none" w="med" len="med"/>
                    </a:lnB>
                    <a:noFill/>
                  </a:tcPr>
                </a:tc>
                <a:tc>
                  <a:txBody>
                    <a:bodyPr/>
                    <a:lstStyle/>
                    <a:p>
                      <a:pPr marL="0" indent="0" algn="l">
                        <a:spcBef>
                          <a:spcPts val="0"/>
                        </a:spcBef>
                        <a:spcAft>
                          <a:spcPts val="0"/>
                        </a:spcAft>
                        <a:buNone/>
                      </a:pPr>
                      <a:r>
                        <a:rPr lang="en-US" sz="1200" b="1" dirty="0">
                          <a:solidFill>
                            <a:srgbClr val="63637E"/>
                          </a:solidFill>
                          <a:latin typeface="Calibri"/>
                          <a:ea typeface="Calibri"/>
                          <a:cs typeface="Calibri"/>
                          <a:sym typeface="Calibri"/>
                        </a:rPr>
                        <a:t>Where it breaks in this theme</a:t>
                      </a:r>
                      <a:endParaRPr lang="en-US" sz="1200" dirty="0"/>
                    </a:p>
                  </a:txBody>
                  <a:tcPr marL="146304" marR="128016" marT="36576" marB="73152" anchor="b">
                    <a:lnL w="12700" cap="flat" cmpd="sng" algn="ctr">
                      <a:noFill/>
                    </a:lnL>
                    <a:lnR w="12700" cap="flat" cmpd="sng" algn="ctr">
                      <a:noFill/>
                    </a:lnR>
                    <a:lnT w="12700" cap="flat" cmpd="sng" algn="ctr">
                      <a:noFill/>
                    </a:lnT>
                    <a:lnB w="15875" cap="flat" cmpd="sng" algn="ctr">
                      <a:solidFill>
                        <a:srgbClr val="D9D3F0"/>
                      </a:solidFill>
                      <a:prstDash val="solid"/>
                      <a:round/>
                      <a:headEnd type="none" w="med" len="med"/>
                      <a:tailEnd type="none" w="med" len="med"/>
                    </a:lnB>
                    <a:noFill/>
                  </a:tcPr>
                </a:tc>
                <a:extLst>
                  <a:ext uri="{0D108BD9-81ED-4DB2-BD59-A6C34878D82A}">
                    <a16:rowId xmlns:a16="http://schemas.microsoft.com/office/drawing/2014/main" val="10000"/>
                  </a:ext>
                </a:extLst>
              </a:tr>
              <a:tr h="786384">
                <a:tc>
                  <a:txBody>
                    <a:bodyPr/>
                    <a:lstStyle/>
                    <a:p>
                      <a:pPr marL="0" indent="0" algn="l">
                        <a:spcBef>
                          <a:spcPts val="0"/>
                        </a:spcBef>
                        <a:spcAft>
                          <a:spcPts val="0"/>
                        </a:spcAft>
                        <a:buNone/>
                      </a:pPr>
                      <a:r>
                        <a:rPr lang="en-US" sz="1400" b="1" dirty="0">
                          <a:solidFill>
                            <a:srgbClr val="14142B"/>
                          </a:solidFill>
                          <a:latin typeface="Calibri"/>
                          <a:ea typeface="Calibri"/>
                          <a:cs typeface="Calibri"/>
                          <a:sym typeface="Calibri"/>
                        </a:rPr>
                        <a:t>Turn-based assistants</a:t>
                      </a:r>
                      <a:endParaRPr lang="en-US" sz="1400" dirty="0"/>
                    </a:p>
                    <a:p>
                      <a:pPr marL="0" indent="0" algn="l">
                        <a:spcBef>
                          <a:spcPts val="200"/>
                        </a:spcBef>
                        <a:spcAft>
                          <a:spcPts val="0"/>
                        </a:spcAft>
                        <a:buNone/>
                      </a:pPr>
                      <a:r>
                        <a:rPr lang="en-US" sz="1200" dirty="0">
                          <a:solidFill>
                            <a:srgbClr val="63637E"/>
                          </a:solidFill>
                          <a:latin typeface="Calibri"/>
                          <a:ea typeface="Calibri"/>
                          <a:cs typeface="Calibri"/>
                          <a:sym typeface="Calibri"/>
                        </a:rPr>
                        <a:t>Listen, think, then speak.</a:t>
                      </a:r>
                      <a:endParaRPr lang="en-US" sz="1200" dirty="0"/>
                    </a:p>
                  </a:txBody>
                  <a:tcPr marL="109728" marR="109728" marT="100584" marB="100584">
                    <a:lnL w="12700" cap="flat" cmpd="sng" algn="ctr">
                      <a:noFill/>
                    </a:lnL>
                    <a:lnR w="12700" cap="flat" cmpd="sng" algn="ctr">
                      <a:noFill/>
                    </a:lnR>
                    <a:lnT w="15875"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noFill/>
                  </a:tcPr>
                </a:tc>
                <a:tc>
                  <a:txBody>
                    <a:bodyPr/>
                    <a:lstStyle/>
                    <a:p>
                      <a:pPr marL="0" indent="0" algn="l">
                        <a:spcBef>
                          <a:spcPts val="0"/>
                        </a:spcBef>
                        <a:spcAft>
                          <a:spcPts val="0"/>
                        </a:spcAft>
                        <a:buNone/>
                      </a:pPr>
                      <a:r>
                        <a:rPr lang="en-US" sz="1300" dirty="0">
                          <a:solidFill>
                            <a:srgbClr val="63637E"/>
                          </a:solidFill>
                          <a:latin typeface="Calibri"/>
                          <a:ea typeface="Calibri"/>
                          <a:cs typeface="Calibri"/>
                          <a:sym typeface="Calibri"/>
                        </a:rPr>
                        <a:t>Predictable and easy to test.</a:t>
                      </a:r>
                      <a:endParaRPr lang="en-US" sz="1300" dirty="0"/>
                    </a:p>
                  </a:txBody>
                  <a:tcPr marL="109728" marR="109728" marT="100584" marB="100584">
                    <a:lnL w="12700" cap="flat" cmpd="sng" algn="ctr">
                      <a:noFill/>
                    </a:lnL>
                    <a:lnR w="12700" cap="flat" cmpd="sng" algn="ctr">
                      <a:noFill/>
                    </a:lnR>
                    <a:lnT w="15875"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noFill/>
                  </a:tcPr>
                </a:tc>
                <a:tc>
                  <a:txBody>
                    <a:bodyPr/>
                    <a:lstStyle/>
                    <a:p>
                      <a:pPr marL="0" indent="0" algn="l">
                        <a:spcBef>
                          <a:spcPts val="0"/>
                        </a:spcBef>
                        <a:spcAft>
                          <a:spcPts val="0"/>
                        </a:spcAft>
                        <a:buNone/>
                      </a:pPr>
                      <a:r>
                        <a:rPr lang="en-US" sz="1300" dirty="0">
                          <a:solidFill>
                            <a:srgbClr val="14142B"/>
                          </a:solidFill>
                          <a:latin typeface="Calibri"/>
                          <a:ea typeface="Calibri"/>
                          <a:cs typeface="Calibri"/>
                          <a:sym typeface="Calibri"/>
                        </a:rPr>
                        <a:t>Can’t be interrupted mid-task. A correction means starting over, and the old request may still go through.</a:t>
                      </a:r>
                      <a:endParaRPr lang="en-US" sz="1300" dirty="0"/>
                    </a:p>
                  </a:txBody>
                  <a:tcPr marL="146304" marR="128016" marT="100584" marB="100584">
                    <a:lnL w="12700" cap="flat" cmpd="sng" algn="ctr">
                      <a:noFill/>
                    </a:lnL>
                    <a:lnR w="12700" cap="flat" cmpd="sng" algn="ctr">
                      <a:noFill/>
                    </a:lnR>
                    <a:lnT w="15875"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solidFill>
                      <a:srgbClr val="F5F3FF"/>
                    </a:solidFill>
                  </a:tcPr>
                </a:tc>
                <a:extLst>
                  <a:ext uri="{0D108BD9-81ED-4DB2-BD59-A6C34878D82A}">
                    <a16:rowId xmlns:a16="http://schemas.microsoft.com/office/drawing/2014/main" val="10001"/>
                  </a:ext>
                </a:extLst>
              </a:tr>
              <a:tr h="786384">
                <a:tc>
                  <a:txBody>
                    <a:bodyPr/>
                    <a:lstStyle/>
                    <a:p>
                      <a:pPr marL="0" indent="0" algn="l">
                        <a:spcBef>
                          <a:spcPts val="0"/>
                        </a:spcBef>
                        <a:spcAft>
                          <a:spcPts val="0"/>
                        </a:spcAft>
                        <a:buNone/>
                      </a:pPr>
                      <a:r>
                        <a:rPr lang="en-US" sz="1400" b="1" dirty="0">
                          <a:solidFill>
                            <a:srgbClr val="14142B"/>
                          </a:solidFill>
                          <a:latin typeface="Calibri"/>
                          <a:ea typeface="Calibri"/>
                          <a:cs typeface="Calibri"/>
                          <a:sym typeface="Calibri"/>
                        </a:rPr>
                        <a:t>Streaming LLM voice agents</a:t>
                      </a:r>
                      <a:endParaRPr lang="en-US" sz="1400" dirty="0"/>
                    </a:p>
                    <a:p>
                      <a:pPr marL="0" indent="0" algn="l">
                        <a:spcBef>
                          <a:spcPts val="200"/>
                        </a:spcBef>
                        <a:spcAft>
                          <a:spcPts val="0"/>
                        </a:spcAft>
                        <a:buNone/>
                      </a:pPr>
                      <a:r>
                        <a:rPr lang="en-US" sz="1200" dirty="0">
                          <a:solidFill>
                            <a:srgbClr val="63637E"/>
                          </a:solidFill>
                          <a:latin typeface="Calibri"/>
                          <a:ea typeface="Calibri"/>
                          <a:cs typeface="Calibri"/>
                          <a:sym typeface="Calibri"/>
                        </a:rPr>
                        <a:t>Speech to text, LLM, text to speech, talking as tokens arrive.</a:t>
                      </a:r>
                      <a:endParaRPr lang="en-US" sz="1200" dirty="0"/>
                    </a:p>
                  </a:txBody>
                  <a:tcPr marL="109728" marR="109728" marT="100584" marB="100584">
                    <a:lnL w="12700" cap="flat" cmpd="sng" algn="ctr">
                      <a:noFill/>
                    </a:lnL>
                    <a:lnR w="12700" cap="flat" cmpd="sng" algn="ctr">
                      <a:noFill/>
                    </a:lnR>
                    <a:lnT w="12700"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noFill/>
                  </a:tcPr>
                </a:tc>
                <a:tc>
                  <a:txBody>
                    <a:bodyPr/>
                    <a:lstStyle/>
                    <a:p>
                      <a:pPr marL="0" indent="0" algn="l">
                        <a:spcBef>
                          <a:spcPts val="0"/>
                        </a:spcBef>
                        <a:spcAft>
                          <a:spcPts val="0"/>
                        </a:spcAft>
                        <a:buNone/>
                      </a:pPr>
                      <a:r>
                        <a:rPr lang="en-US" sz="1300" dirty="0">
                          <a:solidFill>
                            <a:srgbClr val="63637E"/>
                          </a:solidFill>
                          <a:latin typeface="Calibri"/>
                          <a:ea typeface="Calibri"/>
                          <a:cs typeface="Calibri"/>
                          <a:sym typeface="Calibri"/>
                        </a:rPr>
                        <a:t>Fast first word, and barge-in can cut the audio.</a:t>
                      </a:r>
                      <a:endParaRPr lang="en-US" sz="1300" dirty="0"/>
                    </a:p>
                  </a:txBody>
                  <a:tcPr marL="109728" marR="109728" marT="100584" marB="100584">
                    <a:lnL w="12700" cap="flat" cmpd="sng" algn="ctr">
                      <a:noFill/>
                    </a:lnL>
                    <a:lnR w="12700" cap="flat" cmpd="sng" algn="ctr">
                      <a:noFill/>
                    </a:lnR>
                    <a:lnT w="12700"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noFill/>
                  </a:tcPr>
                </a:tc>
                <a:tc>
                  <a:txBody>
                    <a:bodyPr/>
                    <a:lstStyle/>
                    <a:p>
                      <a:pPr marL="0" indent="0" algn="l">
                        <a:spcBef>
                          <a:spcPts val="0"/>
                        </a:spcBef>
                        <a:spcAft>
                          <a:spcPts val="0"/>
                        </a:spcAft>
                        <a:buNone/>
                      </a:pPr>
                      <a:r>
                        <a:rPr lang="en-US" sz="1300" dirty="0">
                          <a:solidFill>
                            <a:srgbClr val="14142B"/>
                          </a:solidFill>
                          <a:latin typeface="Calibri"/>
                          <a:ea typeface="Calibri"/>
                          <a:cs typeface="Calibri"/>
                          <a:sym typeface="Calibri"/>
                        </a:rPr>
                        <a:t>Words go from the model straight to the speaker. Nothing checks “I’ve booked it” against what the booking API actually returned.</a:t>
                      </a:r>
                      <a:endParaRPr lang="en-US" sz="1300" dirty="0"/>
                    </a:p>
                  </a:txBody>
                  <a:tcPr marL="146304" marR="128016" marT="100584" marB="100584">
                    <a:lnL w="12700" cap="flat" cmpd="sng" algn="ctr">
                      <a:noFill/>
                    </a:lnL>
                    <a:lnR w="12700" cap="flat" cmpd="sng" algn="ctr">
                      <a:noFill/>
                    </a:lnR>
                    <a:lnT w="12700"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solidFill>
                      <a:srgbClr val="F5F3FF"/>
                    </a:solidFill>
                  </a:tcPr>
                </a:tc>
                <a:extLst>
                  <a:ext uri="{0D108BD9-81ED-4DB2-BD59-A6C34878D82A}">
                    <a16:rowId xmlns:a16="http://schemas.microsoft.com/office/drawing/2014/main" val="10002"/>
                  </a:ext>
                </a:extLst>
              </a:tr>
              <a:tr h="786384">
                <a:tc>
                  <a:txBody>
                    <a:bodyPr/>
                    <a:lstStyle/>
                    <a:p>
                      <a:pPr marL="0" indent="0" algn="l">
                        <a:spcBef>
                          <a:spcPts val="0"/>
                        </a:spcBef>
                        <a:spcAft>
                          <a:spcPts val="0"/>
                        </a:spcAft>
                        <a:buNone/>
                      </a:pPr>
                      <a:r>
                        <a:rPr lang="en-US" sz="1400" b="1" dirty="0">
                          <a:solidFill>
                            <a:srgbClr val="14142B"/>
                          </a:solidFill>
                          <a:latin typeface="Calibri"/>
                          <a:ea typeface="Calibri"/>
                          <a:cs typeface="Calibri"/>
                          <a:sym typeface="Calibri"/>
                        </a:rPr>
                        <a:t>Speech-to-speech models</a:t>
                      </a:r>
                      <a:endParaRPr lang="en-US" sz="1400" dirty="0"/>
                    </a:p>
                    <a:p>
                      <a:pPr marL="0" indent="0" algn="l">
                        <a:spcBef>
                          <a:spcPts val="200"/>
                        </a:spcBef>
                        <a:spcAft>
                          <a:spcPts val="0"/>
                        </a:spcAft>
                        <a:buNone/>
                      </a:pPr>
                      <a:r>
                        <a:rPr lang="en-US" sz="1200" dirty="0">
                          <a:solidFill>
                            <a:srgbClr val="63637E"/>
                          </a:solidFill>
                          <a:latin typeface="Calibri"/>
                          <a:ea typeface="Calibri"/>
                          <a:cs typeface="Calibri"/>
                          <a:sym typeface="Calibri"/>
                        </a:rPr>
                        <a:t>One model hears and talks at the same time.</a:t>
                      </a:r>
                      <a:endParaRPr lang="en-US" sz="1200" dirty="0"/>
                    </a:p>
                  </a:txBody>
                  <a:tcPr marL="109728" marR="109728" marT="100584" marB="100584">
                    <a:lnL w="12700" cap="flat" cmpd="sng" algn="ctr">
                      <a:noFill/>
                    </a:lnL>
                    <a:lnR w="12700" cap="flat" cmpd="sng" algn="ctr">
                      <a:noFill/>
                    </a:lnR>
                    <a:lnT w="12700"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noFill/>
                  </a:tcPr>
                </a:tc>
                <a:tc>
                  <a:txBody>
                    <a:bodyPr/>
                    <a:lstStyle/>
                    <a:p>
                      <a:pPr marL="0" indent="0" algn="l">
                        <a:spcBef>
                          <a:spcPts val="0"/>
                        </a:spcBef>
                        <a:spcAft>
                          <a:spcPts val="0"/>
                        </a:spcAft>
                        <a:buNone/>
                      </a:pPr>
                      <a:r>
                        <a:rPr lang="en-US" sz="1300" dirty="0">
                          <a:solidFill>
                            <a:srgbClr val="63637E"/>
                          </a:solidFill>
                          <a:latin typeface="Calibri"/>
                          <a:ea typeface="Calibri"/>
                          <a:cs typeface="Calibri"/>
                          <a:sym typeface="Calibri"/>
                        </a:rPr>
                        <a:t>The most natural timing, with real backchannels.</a:t>
                      </a:r>
                      <a:endParaRPr lang="en-US" sz="1300" dirty="0"/>
                    </a:p>
                  </a:txBody>
                  <a:tcPr marL="109728" marR="109728" marT="100584" marB="100584">
                    <a:lnL w="12700" cap="flat" cmpd="sng" algn="ctr">
                      <a:noFill/>
                    </a:lnL>
                    <a:lnR w="12700" cap="flat" cmpd="sng" algn="ctr">
                      <a:noFill/>
                    </a:lnR>
                    <a:lnT w="12700"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noFill/>
                  </a:tcPr>
                </a:tc>
                <a:tc>
                  <a:txBody>
                    <a:bodyPr/>
                    <a:lstStyle/>
                    <a:p>
                      <a:pPr marL="0" indent="0" algn="l">
                        <a:spcBef>
                          <a:spcPts val="0"/>
                        </a:spcBef>
                        <a:spcAft>
                          <a:spcPts val="0"/>
                        </a:spcAft>
                        <a:buNone/>
                      </a:pPr>
                      <a:r>
                        <a:rPr lang="en-US" sz="1300" dirty="0">
                          <a:solidFill>
                            <a:srgbClr val="14142B"/>
                          </a:solidFill>
                          <a:latin typeface="Calibri"/>
                          <a:ea typeface="Calibri"/>
                          <a:cs typeface="Calibri"/>
                          <a:sym typeface="Calibri"/>
                        </a:rPr>
                        <a:t>The model decides what to say on its own. No hard link between a sentence and a tool result, and hard to audit afterwards.</a:t>
                      </a:r>
                      <a:endParaRPr lang="en-US" sz="1300" dirty="0"/>
                    </a:p>
                  </a:txBody>
                  <a:tcPr marL="146304" marR="128016" marT="100584" marB="100584">
                    <a:lnL w="12700" cap="flat" cmpd="sng" algn="ctr">
                      <a:noFill/>
                    </a:lnL>
                    <a:lnR w="12700" cap="flat" cmpd="sng" algn="ctr">
                      <a:noFill/>
                    </a:lnR>
                    <a:lnT w="12700"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solidFill>
                      <a:srgbClr val="F5F3FF"/>
                    </a:solidFill>
                  </a:tcPr>
                </a:tc>
                <a:extLst>
                  <a:ext uri="{0D108BD9-81ED-4DB2-BD59-A6C34878D82A}">
                    <a16:rowId xmlns:a16="http://schemas.microsoft.com/office/drawing/2014/main" val="10003"/>
                  </a:ext>
                </a:extLst>
              </a:tr>
              <a:tr h="786384">
                <a:tc>
                  <a:txBody>
                    <a:bodyPr/>
                    <a:lstStyle/>
                    <a:p>
                      <a:pPr marL="0" indent="0" algn="l">
                        <a:spcBef>
                          <a:spcPts val="0"/>
                        </a:spcBef>
                        <a:spcAft>
                          <a:spcPts val="0"/>
                        </a:spcAft>
                        <a:buNone/>
                      </a:pPr>
                      <a:r>
                        <a:rPr lang="en-US" sz="1400" b="1" dirty="0">
                          <a:solidFill>
                            <a:srgbClr val="14142B"/>
                          </a:solidFill>
                          <a:latin typeface="Calibri"/>
                          <a:ea typeface="Calibri"/>
                          <a:cs typeface="Calibri"/>
                          <a:sym typeface="Calibri"/>
                        </a:rPr>
                        <a:t>Scripted fillers</a:t>
                      </a:r>
                      <a:endParaRPr lang="en-US" sz="1400" dirty="0"/>
                    </a:p>
                    <a:p>
                      <a:pPr marL="0" indent="0" algn="l">
                        <a:spcBef>
                          <a:spcPts val="200"/>
                        </a:spcBef>
                        <a:spcAft>
                          <a:spcPts val="0"/>
                        </a:spcAft>
                        <a:buNone/>
                      </a:pPr>
                      <a:r>
                        <a:rPr lang="en-US" sz="1200" dirty="0">
                          <a:solidFill>
                            <a:srgbClr val="63637E"/>
                          </a:solidFill>
                          <a:latin typeface="Calibri"/>
                          <a:ea typeface="Calibri"/>
                          <a:cs typeface="Calibri"/>
                          <a:sym typeface="Calibri"/>
                        </a:rPr>
                        <a:t>“One moment, please.”</a:t>
                      </a:r>
                      <a:endParaRPr lang="en-US" sz="1200" dirty="0"/>
                    </a:p>
                  </a:txBody>
                  <a:tcPr marL="109728" marR="109728" marT="100584" marB="100584">
                    <a:lnL w="12700" cap="flat" cmpd="sng" algn="ctr">
                      <a:noFill/>
                    </a:lnL>
                    <a:lnR w="12700" cap="flat" cmpd="sng" algn="ctr">
                      <a:noFill/>
                    </a:lnR>
                    <a:lnT w="12700"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noFill/>
                  </a:tcPr>
                </a:tc>
                <a:tc>
                  <a:txBody>
                    <a:bodyPr/>
                    <a:lstStyle/>
                    <a:p>
                      <a:pPr marL="0" indent="0" algn="l">
                        <a:spcBef>
                          <a:spcPts val="0"/>
                        </a:spcBef>
                        <a:spcAft>
                          <a:spcPts val="0"/>
                        </a:spcAft>
                        <a:buNone/>
                      </a:pPr>
                      <a:r>
                        <a:rPr lang="en-US" sz="1300" dirty="0">
                          <a:solidFill>
                            <a:srgbClr val="63637E"/>
                          </a:solidFill>
                          <a:latin typeface="Calibri"/>
                          <a:ea typeface="Calibri"/>
                          <a:cs typeface="Calibri"/>
                          <a:sym typeface="Calibri"/>
                        </a:rPr>
                        <a:t>Holds the floor instantly.</a:t>
                      </a:r>
                      <a:endParaRPr lang="en-US" sz="1300" dirty="0"/>
                    </a:p>
                  </a:txBody>
                  <a:tcPr marL="109728" marR="109728" marT="100584" marB="100584">
                    <a:lnL w="12700" cap="flat" cmpd="sng" algn="ctr">
                      <a:noFill/>
                    </a:lnL>
                    <a:lnR w="12700" cap="flat" cmpd="sng" algn="ctr">
                      <a:noFill/>
                    </a:lnR>
                    <a:lnT w="12700"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noFill/>
                  </a:tcPr>
                </a:tc>
                <a:tc>
                  <a:txBody>
                    <a:bodyPr/>
                    <a:lstStyle/>
                    <a:p>
                      <a:pPr marL="0" indent="0" algn="l">
                        <a:spcBef>
                          <a:spcPts val="0"/>
                        </a:spcBef>
                        <a:spcAft>
                          <a:spcPts val="0"/>
                        </a:spcAft>
                        <a:buNone/>
                      </a:pPr>
                      <a:r>
                        <a:rPr lang="en-US" sz="1300" dirty="0">
                          <a:solidFill>
                            <a:srgbClr val="14142B"/>
                          </a:solidFill>
                          <a:latin typeface="Calibri"/>
                          <a:ea typeface="Calibri"/>
                          <a:cs typeface="Calibri"/>
                          <a:sym typeface="Calibri"/>
                        </a:rPr>
                        <a:t>Tells the user nothing. They can’t tell if they were understood, and too many fillers count against you.</a:t>
                      </a:r>
                      <a:endParaRPr lang="en-US" sz="1300" dirty="0"/>
                    </a:p>
                  </a:txBody>
                  <a:tcPr marL="146304" marR="128016" marT="100584" marB="100584">
                    <a:lnL w="12700" cap="flat" cmpd="sng" algn="ctr">
                      <a:noFill/>
                    </a:lnL>
                    <a:lnR w="12700" cap="flat" cmpd="sng" algn="ctr">
                      <a:noFill/>
                    </a:lnR>
                    <a:lnT w="12700" cap="flat" cmpd="sng" algn="ctr">
                      <a:solidFill>
                        <a:srgbClr val="D9D3F0"/>
                      </a:solidFill>
                      <a:prstDash val="solid"/>
                      <a:round/>
                      <a:headEnd type="none" w="med" len="med"/>
                      <a:tailEnd type="none" w="med" len="med"/>
                    </a:lnT>
                    <a:lnB w="12700" cap="flat" cmpd="sng" algn="ctr">
                      <a:solidFill>
                        <a:srgbClr val="D9D3F0"/>
                      </a:solidFill>
                      <a:prstDash val="solid"/>
                      <a:round/>
                      <a:headEnd type="none" w="med" len="med"/>
                      <a:tailEnd type="none" w="med" len="med"/>
                    </a:lnB>
                    <a:solidFill>
                      <a:srgbClr val="F5F3FF"/>
                    </a:solidFill>
                  </a:tcPr>
                </a:tc>
                <a:extLst>
                  <a:ext uri="{0D108BD9-81ED-4DB2-BD59-A6C34878D82A}">
                    <a16:rowId xmlns:a16="http://schemas.microsoft.com/office/drawing/2014/main" val="10004"/>
                  </a:ext>
                </a:extLst>
              </a:tr>
            </a:tbl>
          </a:graphicData>
        </a:graphic>
      </p:graphicFrame>
      <p:sp>
        <p:nvSpPr>
          <p:cNvPr id="302" name="Gap callout"/>
          <p:cNvSpPr/>
          <p:nvPr/>
        </p:nvSpPr>
        <p:spPr>
          <a:xfrm>
            <a:off x="932688" y="5486400"/>
            <a:ext cx="10332720" cy="749808"/>
          </a:xfrm>
          <a:prstGeom prst="roundRect">
            <a:avLst>
              <a:gd name="adj" fmla="val 12000"/>
            </a:avLst>
          </a:prstGeom>
          <a:solidFill>
            <a:srgbClr val="EDE9FE"/>
          </a:solidFill>
          <a:ln>
            <a:noFill/>
          </a:ln>
        </p:spPr>
        <p:txBody>
          <a:bodyPr wrap="square" lIns="228600" tIns="73152" rIns="228600" bIns="73152" rtlCol="0" anchor="ctr">
            <a:noAutofit/>
          </a:bodyPr>
          <a:lstStyle/>
          <a:p>
            <a:pPr marL="0" indent="0" algn="l">
              <a:lnSpc>
                <a:spcPct val="105000"/>
              </a:lnSpc>
              <a:spcBef>
                <a:spcPts val="0"/>
              </a:spcBef>
              <a:spcAft>
                <a:spcPts val="0"/>
              </a:spcAft>
              <a:buNone/>
            </a:pPr>
            <a:r>
              <a:rPr lang="en-US" sz="1400" b="1" dirty="0">
                <a:solidFill>
                  <a:srgbClr val="6D28D9"/>
                </a:solidFill>
                <a:latin typeface="Calibri"/>
                <a:ea typeface="Calibri"/>
                <a:cs typeface="Calibri"/>
                <a:sym typeface="Calibri"/>
              </a:rPr>
              <a:t>The gap   </a:t>
            </a:r>
            <a:r>
              <a:rPr lang="en-US" sz="1400" dirty="0">
                <a:solidFill>
                  <a:srgbClr val="14142B"/>
                </a:solidFill>
                <a:latin typeface="Calibri"/>
                <a:ea typeface="Calibri"/>
                <a:cs typeface="Calibri"/>
                <a:sym typeface="Calibri"/>
              </a:rPr>
              <a:t>All four can say “done” before the tool says “done”. Nothing sits between what the agent believes and what it says out loud. That checkpoint is the piece we’re building.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Our Solutions &amp; Architecture Diagram</a:t>
            </a:r>
            <a:endParaRPr/>
          </a:p>
        </p:txBody>
      </p:sp>
      <p:sp>
        <p:nvSpPr>
          <p:cNvPr id="301" name="Shape 301"/>
          <p:cNvSpPr txBox="1"/>
          <p:nvPr/>
        </p:nvSpPr>
        <p:spPr>
          <a:xfrm>
            <a:off x="932688" y="1554480"/>
            <a:ext cx="10332720" cy="566928"/>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US" sz="1500" dirty="0">
                <a:solidFill>
                  <a:srgbClr val="14142B"/>
                </a:solidFill>
                <a:latin typeface="Calibri"/>
                <a:ea typeface="Calibri"/>
                <a:cs typeface="Calibri"/>
                <a:sym typeface="Calibri"/>
              </a:rPr>
              <a:t>Truth-Gated Voice puts a checkpoint between what the agent thinks and what it says. Every line is checked against a ledger of tool receipts before it goes out. </a:t>
            </a:r>
            <a:r>
              <a:rPr lang="en-US" sz="1500" b="1" dirty="0">
                <a:solidFill>
                  <a:srgbClr val="6D28D9"/>
                </a:solidFill>
                <a:latin typeface="Calibri"/>
                <a:ea typeface="Calibri"/>
                <a:cs typeface="Calibri"/>
                <a:sym typeface="Calibri"/>
              </a:rPr>
              <a:t>No receipt, no claim.</a:t>
            </a:r>
            <a:endParaRPr lang="en-US" sz="1500" dirty="0"/>
          </a:p>
        </p:txBody>
      </p:sp>
      <p:sp>
        <p:nvSpPr>
          <p:cNvPr id="302" name="Input queue"/>
          <p:cNvSpPr/>
          <p:nvPr/>
        </p:nvSpPr>
        <p:spPr>
          <a:xfrm>
            <a:off x="932688" y="2267712"/>
            <a:ext cx="1737360" cy="841248"/>
          </a:xfrm>
          <a:prstGeom prst="roundRect">
            <a:avLst>
              <a:gd name="adj" fmla="val 14000"/>
            </a:avLst>
          </a:prstGeom>
          <a:solidFill>
            <a:srgbClr val="FFFFFF"/>
          </a:solidFill>
          <a:ln w="12700">
            <a:solidFill>
              <a:srgbClr val="D9D3F0"/>
            </a:solidFill>
          </a:ln>
        </p:spPr>
        <p:txBody>
          <a:bodyPr wrap="square" lIns="118872" tIns="64008" rIns="100584" bIns="64008" rtlCol="0" anchor="ctr">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Input queue</a:t>
            </a:r>
            <a:endParaRPr lang="en-US" sz="1300" dirty="0"/>
          </a:p>
          <a:p>
            <a:pPr marL="0" indent="0" algn="l">
              <a:spcBef>
                <a:spcPts val="200"/>
              </a:spcBef>
              <a:spcAft>
                <a:spcPts val="0"/>
              </a:spcAft>
              <a:buNone/>
            </a:pPr>
            <a:r>
              <a:rPr lang="en-US" sz="1050" dirty="0">
                <a:solidFill>
                  <a:srgbClr val="63637E"/>
                </a:solidFill>
                <a:latin typeface="Calibri"/>
                <a:ea typeface="Calibri"/>
                <a:cs typeface="Calibri"/>
                <a:sym typeface="Calibri"/>
              </a:rPr>
              <a:t>text, audio, frames, interrupts, tool results</a:t>
            </a:r>
            <a:endParaRPr lang="en-US" sz="1050" dirty="0"/>
          </a:p>
        </p:txBody>
      </p:sp>
      <p:sp>
        <p:nvSpPr>
          <p:cNvPr id="303" name="Listener"/>
          <p:cNvSpPr/>
          <p:nvPr/>
        </p:nvSpPr>
        <p:spPr>
          <a:xfrm>
            <a:off x="3081528" y="2267712"/>
            <a:ext cx="1737360" cy="841248"/>
          </a:xfrm>
          <a:prstGeom prst="roundRect">
            <a:avLst>
              <a:gd name="adj" fmla="val 14000"/>
            </a:avLst>
          </a:prstGeom>
          <a:solidFill>
            <a:srgbClr val="FFFFFF"/>
          </a:solidFill>
          <a:ln w="12700">
            <a:solidFill>
              <a:srgbClr val="D9D3F0"/>
            </a:solidFill>
          </a:ln>
        </p:spPr>
        <p:txBody>
          <a:bodyPr wrap="square" lIns="118872" tIns="64008" rIns="100584" bIns="64008" rtlCol="0" anchor="ctr">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Listener</a:t>
            </a:r>
            <a:endParaRPr lang="en-US" sz="1300" dirty="0"/>
          </a:p>
          <a:p>
            <a:pPr marL="0" indent="0" algn="l">
              <a:spcBef>
                <a:spcPts val="200"/>
              </a:spcBef>
              <a:spcAft>
                <a:spcPts val="0"/>
              </a:spcAft>
              <a:buNone/>
            </a:pPr>
            <a:r>
              <a:rPr lang="en-US" sz="1050" dirty="0">
                <a:solidFill>
                  <a:srgbClr val="63637E"/>
                </a:solidFill>
                <a:latin typeface="Calibri"/>
                <a:ea typeface="Calibri"/>
                <a:cs typeface="Calibri"/>
                <a:sym typeface="Calibri"/>
              </a:rPr>
              <a:t>tracks slots and the state version</a:t>
            </a:r>
            <a:endParaRPr lang="en-US" sz="1050" dirty="0"/>
          </a:p>
        </p:txBody>
      </p:sp>
      <p:sp>
        <p:nvSpPr>
          <p:cNvPr id="304" name="Planner"/>
          <p:cNvSpPr/>
          <p:nvPr/>
        </p:nvSpPr>
        <p:spPr>
          <a:xfrm>
            <a:off x="5230368" y="2267712"/>
            <a:ext cx="1737360" cy="841248"/>
          </a:xfrm>
          <a:prstGeom prst="roundRect">
            <a:avLst>
              <a:gd name="adj" fmla="val 14000"/>
            </a:avLst>
          </a:prstGeom>
          <a:solidFill>
            <a:srgbClr val="FFFFFF"/>
          </a:solidFill>
          <a:ln w="12700">
            <a:solidFill>
              <a:srgbClr val="D9D3F0"/>
            </a:solidFill>
          </a:ln>
        </p:spPr>
        <p:txBody>
          <a:bodyPr wrap="square" lIns="118872" tIns="64008" rIns="100584" bIns="64008" rtlCol="0" anchor="ctr">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Planner</a:t>
            </a:r>
            <a:endParaRPr lang="en-US" sz="1300" dirty="0"/>
          </a:p>
          <a:p>
            <a:pPr marL="0" indent="0" algn="l">
              <a:spcBef>
                <a:spcPts val="200"/>
              </a:spcBef>
              <a:spcAft>
                <a:spcPts val="0"/>
              </a:spcAft>
              <a:buNone/>
            </a:pPr>
            <a:r>
              <a:rPr lang="en-US" sz="1050" dirty="0">
                <a:solidFill>
                  <a:srgbClr val="63637E"/>
                </a:solidFill>
                <a:latin typeface="Calibri"/>
                <a:ea typeface="Calibri"/>
                <a:cs typeface="Calibri"/>
                <a:sym typeface="Calibri"/>
              </a:rPr>
              <a:t>slow path: an LLM picks tools and drafts replies</a:t>
            </a:r>
            <a:endParaRPr lang="en-US" sz="1050" dirty="0"/>
          </a:p>
        </p:txBody>
      </p:sp>
      <p:sp>
        <p:nvSpPr>
          <p:cNvPr id="305" name="Mock tools"/>
          <p:cNvSpPr/>
          <p:nvPr/>
        </p:nvSpPr>
        <p:spPr>
          <a:xfrm>
            <a:off x="9528048" y="2267712"/>
            <a:ext cx="1737360" cy="841248"/>
          </a:xfrm>
          <a:prstGeom prst="roundRect">
            <a:avLst>
              <a:gd name="adj" fmla="val 14000"/>
            </a:avLst>
          </a:prstGeom>
          <a:solidFill>
            <a:srgbClr val="FFFFFF"/>
          </a:solidFill>
          <a:ln w="12700">
            <a:solidFill>
              <a:srgbClr val="D9D3F0"/>
            </a:solidFill>
          </a:ln>
        </p:spPr>
        <p:txBody>
          <a:bodyPr wrap="square" lIns="118872" tIns="64008" rIns="100584" bIns="64008" rtlCol="0" anchor="ctr">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Mock tools</a:t>
            </a:r>
            <a:endParaRPr lang="en-US" sz="1300" dirty="0"/>
          </a:p>
          <a:p>
            <a:pPr marL="0" indent="0" algn="l">
              <a:spcBef>
                <a:spcPts val="200"/>
              </a:spcBef>
              <a:spcAft>
                <a:spcPts val="0"/>
              </a:spcAft>
              <a:buNone/>
            </a:pPr>
            <a:r>
              <a:rPr lang="en-US" sz="1050" dirty="0">
                <a:solidFill>
                  <a:srgbClr val="63637E"/>
                </a:solidFill>
                <a:latin typeface="Calibri"/>
                <a:ea typeface="Calibri"/>
                <a:cs typeface="Calibri"/>
                <a:sym typeface="Calibri"/>
              </a:rPr>
              <a:t>search, booking, tickets, manual lookup</a:t>
            </a:r>
            <a:endParaRPr lang="en-US" sz="1050" dirty="0"/>
          </a:p>
        </p:txBody>
      </p:sp>
      <p:sp>
        <p:nvSpPr>
          <p:cNvPr id="306" name="Fast path"/>
          <p:cNvSpPr/>
          <p:nvPr/>
        </p:nvSpPr>
        <p:spPr>
          <a:xfrm>
            <a:off x="3081528" y="3511296"/>
            <a:ext cx="1737360" cy="932688"/>
          </a:xfrm>
          <a:prstGeom prst="roundRect">
            <a:avLst>
              <a:gd name="adj" fmla="val 14000"/>
            </a:avLst>
          </a:prstGeom>
          <a:solidFill>
            <a:srgbClr val="FFFFFF"/>
          </a:solidFill>
          <a:ln w="12700">
            <a:solidFill>
              <a:srgbClr val="D9D3F0"/>
            </a:solidFill>
          </a:ln>
        </p:spPr>
        <p:txBody>
          <a:bodyPr wrap="square" lIns="118872" tIns="64008" rIns="100584" bIns="64008" rtlCol="0" anchor="ctr">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Fast path</a:t>
            </a:r>
            <a:endParaRPr lang="en-US" sz="1300" dirty="0"/>
          </a:p>
          <a:p>
            <a:pPr marL="0" indent="0" algn="l">
              <a:spcBef>
                <a:spcPts val="200"/>
              </a:spcBef>
              <a:spcAft>
                <a:spcPts val="0"/>
              </a:spcAft>
              <a:buNone/>
            </a:pPr>
            <a:r>
              <a:rPr lang="en-US" sz="1050" dirty="0">
                <a:solidFill>
                  <a:srgbClr val="63637E"/>
                </a:solidFill>
                <a:latin typeface="Calibri"/>
                <a:ea typeface="Calibri"/>
                <a:cs typeface="Calibri"/>
                <a:sym typeface="Calibri"/>
              </a:rPr>
              <a:t>instant lines built from live slots</a:t>
            </a:r>
            <a:endParaRPr lang="en-US" sz="1050" dirty="0"/>
          </a:p>
        </p:txBody>
      </p:sp>
      <p:sp>
        <p:nvSpPr>
          <p:cNvPr id="307" name="Truth gate"/>
          <p:cNvSpPr/>
          <p:nvPr/>
        </p:nvSpPr>
        <p:spPr>
          <a:xfrm>
            <a:off x="5230368" y="3511296"/>
            <a:ext cx="1737360" cy="932688"/>
          </a:xfrm>
          <a:prstGeom prst="roundRect">
            <a:avLst>
              <a:gd name="adj" fmla="val 14000"/>
            </a:avLst>
          </a:prstGeom>
          <a:solidFill>
            <a:srgbClr val="6D28D9"/>
          </a:solidFill>
          <a:ln>
            <a:noFill/>
          </a:ln>
        </p:spPr>
        <p:txBody>
          <a:bodyPr wrap="square" lIns="118872" tIns="64008" rIns="100584" bIns="64008" rtlCol="0" anchor="ctr">
            <a:noAutofit/>
          </a:bodyPr>
          <a:lstStyle/>
          <a:p>
            <a:pPr marL="0" indent="0" algn="l">
              <a:spcBef>
                <a:spcPts val="0"/>
              </a:spcBef>
              <a:spcAft>
                <a:spcPts val="0"/>
              </a:spcAft>
              <a:buNone/>
            </a:pPr>
            <a:r>
              <a:rPr lang="en-US" sz="1600" b="1" dirty="0">
                <a:solidFill>
                  <a:srgbClr val="FFFFFF"/>
                </a:solidFill>
                <a:latin typeface="Calibri"/>
                <a:ea typeface="Calibri"/>
                <a:cs typeface="Calibri"/>
                <a:sym typeface="Calibri"/>
              </a:rPr>
              <a:t>Truth gate</a:t>
            </a:r>
            <a:endParaRPr lang="en-US" sz="1600" dirty="0"/>
          </a:p>
          <a:p>
            <a:pPr marL="0" indent="0" algn="l">
              <a:spcBef>
                <a:spcPts val="200"/>
              </a:spcBef>
              <a:spcAft>
                <a:spcPts val="0"/>
              </a:spcAft>
              <a:buNone/>
            </a:pPr>
            <a:r>
              <a:rPr lang="en-US" sz="1150" dirty="0">
                <a:solidFill>
                  <a:srgbClr val="E4DDFB"/>
                </a:solidFill>
                <a:latin typeface="Calibri"/>
                <a:ea typeface="Calibri"/>
                <a:cs typeface="Calibri"/>
                <a:sym typeface="Calibri"/>
              </a:rPr>
              <a:t>no receipt, no claim</a:t>
            </a:r>
            <a:endParaRPr lang="en-US" sz="1150" dirty="0"/>
          </a:p>
        </p:txBody>
      </p:sp>
      <p:sp>
        <p:nvSpPr>
          <p:cNvPr id="308" name="Receipt ledger"/>
          <p:cNvSpPr/>
          <p:nvPr/>
        </p:nvSpPr>
        <p:spPr>
          <a:xfrm>
            <a:off x="7379208" y="3511296"/>
            <a:ext cx="3886200" cy="932688"/>
          </a:xfrm>
          <a:prstGeom prst="roundRect">
            <a:avLst>
              <a:gd name="adj" fmla="val 10000"/>
            </a:avLst>
          </a:prstGeom>
          <a:solidFill>
            <a:srgbClr val="F5F3FF"/>
          </a:solidFill>
          <a:ln w="12700">
            <a:solidFill>
              <a:srgbClr val="D9D3F0"/>
            </a:solidFill>
          </a:ln>
        </p:spPr>
        <p:txBody>
          <a:bodyPr wrap="square" lIns="146304" tIns="54864" rIns="128016" bIns="54864" rtlCol="0" anchor="ctr">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Receipt ledger</a:t>
            </a:r>
            <a:endParaRPr lang="en-US" sz="1300" dirty="0"/>
          </a:p>
          <a:p>
            <a:pPr marL="0" indent="0" algn="l">
              <a:spcBef>
                <a:spcPts val="100"/>
              </a:spcBef>
              <a:spcAft>
                <a:spcPts val="400"/>
              </a:spcAft>
              <a:buNone/>
            </a:pPr>
            <a:r>
              <a:rPr lang="en-US" sz="1050" dirty="0">
                <a:solidFill>
                  <a:srgbClr val="63637E"/>
                </a:solidFill>
                <a:latin typeface="Calibri"/>
                <a:ea typeface="Calibri"/>
                <a:cs typeface="Calibri"/>
                <a:sym typeface="Calibri"/>
              </a:rPr>
              <a:t>one row per call_id, kept for this session only</a:t>
            </a:r>
            <a:endParaRPr lang="en-US" sz="1050" dirty="0"/>
          </a:p>
          <a:p>
            <a:pPr marL="0" indent="0" algn="l">
              <a:spcBef>
                <a:spcPts val="0"/>
              </a:spcBef>
              <a:spcAft>
                <a:spcPts val="0"/>
              </a:spcAft>
              <a:buNone/>
            </a:pPr>
            <a:r>
              <a:rPr lang="en-US" sz="1000" dirty="0">
                <a:solidFill>
                  <a:srgbClr val="14142B"/>
                </a:solidFill>
                <a:latin typeface="Consolas"/>
                <a:ea typeface="Consolas"/>
                <a:cs typeface="Consolas"/>
                <a:sym typeface="Consolas"/>
              </a:rPr>
              <a:t>bk-7  book_flight  BOM  v6  </a:t>
            </a:r>
            <a:r>
              <a:rPr lang="en-US" sz="1000" b="1" dirty="0">
                <a:solidFill>
                  <a:srgbClr val="63637E"/>
                </a:solidFill>
                <a:latin typeface="Consolas"/>
                <a:ea typeface="Consolas"/>
                <a:cs typeface="Consolas"/>
                <a:sym typeface="Consolas"/>
              </a:rPr>
              <a:t>cancelled</a:t>
            </a:r>
            <a:endParaRPr lang="en-US" sz="1000" dirty="0"/>
          </a:p>
          <a:p>
            <a:pPr marL="0" indent="0" algn="l">
              <a:spcBef>
                <a:spcPts val="200"/>
              </a:spcBef>
              <a:spcAft>
                <a:spcPts val="0"/>
              </a:spcAft>
              <a:buNone/>
            </a:pPr>
            <a:r>
              <a:rPr lang="en-US" sz="1000" dirty="0">
                <a:solidFill>
                  <a:srgbClr val="14142B"/>
                </a:solidFill>
                <a:latin typeface="Consolas"/>
                <a:ea typeface="Consolas"/>
                <a:cs typeface="Consolas"/>
                <a:sym typeface="Consolas"/>
              </a:rPr>
              <a:t>bk-8  book_flight  PNQ  v7  </a:t>
            </a:r>
            <a:r>
              <a:rPr lang="en-US" sz="1000" b="1" dirty="0">
                <a:solidFill>
                  <a:srgbClr val="1D4ED8"/>
                </a:solidFill>
                <a:latin typeface="Consolas"/>
                <a:ea typeface="Consolas"/>
                <a:cs typeface="Consolas"/>
                <a:sym typeface="Consolas"/>
              </a:rPr>
              <a:t>pending</a:t>
            </a:r>
            <a:endParaRPr lang="en-US" sz="1000" dirty="0"/>
          </a:p>
        </p:txBody>
      </p:sp>
      <p:sp>
        <p:nvSpPr>
          <p:cNvPr id="309" name="Output queue"/>
          <p:cNvSpPr/>
          <p:nvPr/>
        </p:nvSpPr>
        <p:spPr>
          <a:xfrm>
            <a:off x="5230368" y="4828032"/>
            <a:ext cx="1737360" cy="1005840"/>
          </a:xfrm>
          <a:prstGeom prst="roundRect">
            <a:avLst>
              <a:gd name="adj" fmla="val 14000"/>
            </a:avLst>
          </a:prstGeom>
          <a:solidFill>
            <a:srgbClr val="FFFFFF"/>
          </a:solidFill>
          <a:ln w="12700">
            <a:solidFill>
              <a:srgbClr val="D9D3F0"/>
            </a:solidFill>
          </a:ln>
        </p:spPr>
        <p:txBody>
          <a:bodyPr wrap="square" lIns="118872" tIns="64008" rIns="100584" bIns="64008" rtlCol="0" anchor="ctr">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Output queue</a:t>
            </a:r>
            <a:endParaRPr lang="en-US" sz="1300" dirty="0"/>
          </a:p>
          <a:p>
            <a:pPr marL="0" indent="0" algn="l">
              <a:spcBef>
                <a:spcPts val="200"/>
              </a:spcBef>
              <a:spcAft>
                <a:spcPts val="0"/>
              </a:spcAft>
              <a:buNone/>
            </a:pPr>
            <a:r>
              <a:rPr lang="en-US" sz="1050" dirty="0">
                <a:solidFill>
                  <a:srgbClr val="63637E"/>
                </a:solidFill>
                <a:latin typeface="Calibri"/>
                <a:ea typeface="Calibri"/>
                <a:cs typeface="Calibri"/>
                <a:sym typeface="Calibri"/>
              </a:rPr>
              <a:t>speech, tool calls, cancels, final answer + state snapshot</a:t>
            </a:r>
            <a:endParaRPr lang="en-US" sz="1050" dirty="0"/>
          </a:p>
        </p:txBody>
      </p:sp>
      <p:cxnSp>
        <p:nvCxnSpPr>
          <p:cNvPr id="310" name="Connector 310"/>
          <p:cNvCxnSpPr/>
          <p:nvPr/>
        </p:nvCxnSpPr>
        <p:spPr>
          <a:xfrm>
            <a:off x="2670048" y="2688336"/>
            <a:ext cx="411480" cy="0"/>
          </a:xfrm>
          <a:prstGeom prst="straightConnector1">
            <a:avLst/>
          </a:prstGeom>
          <a:ln w="12700">
            <a:solidFill>
              <a:srgbClr val="63637E"/>
            </a:solidFill>
            <a:tailEnd type="triangle" w="med" len="med"/>
          </a:ln>
        </p:spPr>
      </p:cxnSp>
      <p:cxnSp>
        <p:nvCxnSpPr>
          <p:cNvPr id="311" name="Connector 311"/>
          <p:cNvCxnSpPr/>
          <p:nvPr/>
        </p:nvCxnSpPr>
        <p:spPr>
          <a:xfrm>
            <a:off x="4818888" y="2688336"/>
            <a:ext cx="411480" cy="0"/>
          </a:xfrm>
          <a:prstGeom prst="straightConnector1">
            <a:avLst/>
          </a:prstGeom>
          <a:ln w="12700">
            <a:solidFill>
              <a:srgbClr val="63637E"/>
            </a:solidFill>
            <a:tailEnd type="triangle" w="med" len="med"/>
          </a:ln>
        </p:spPr>
      </p:cxnSp>
      <p:cxnSp>
        <p:nvCxnSpPr>
          <p:cNvPr id="312" name="Connector 312"/>
          <p:cNvCxnSpPr/>
          <p:nvPr/>
        </p:nvCxnSpPr>
        <p:spPr>
          <a:xfrm>
            <a:off x="6967728" y="2688336"/>
            <a:ext cx="2560320" cy="0"/>
          </a:xfrm>
          <a:prstGeom prst="straightConnector1">
            <a:avLst/>
          </a:prstGeom>
          <a:ln w="12700">
            <a:solidFill>
              <a:srgbClr val="63637E"/>
            </a:solidFill>
            <a:tailEnd type="triangle" w="med" len="med"/>
          </a:ln>
        </p:spPr>
      </p:cxnSp>
      <p:sp>
        <p:nvSpPr>
          <p:cNvPr id="313" name="Shape 313"/>
          <p:cNvSpPr txBox="1"/>
          <p:nvPr/>
        </p:nvSpPr>
        <p:spPr>
          <a:xfrm>
            <a:off x="7013448" y="2414016"/>
            <a:ext cx="2468880" cy="237744"/>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US" sz="1000" i="1" dirty="0">
                <a:solidFill>
                  <a:srgbClr val="63637E"/>
                </a:solidFill>
                <a:latin typeface="Calibri"/>
                <a:ea typeface="Calibri"/>
                <a:cs typeface="Calibri"/>
                <a:sym typeface="Calibri"/>
              </a:rPr>
              <a:t>tool calls, each with a call_id</a:t>
            </a:r>
            <a:endParaRPr lang="en-US" sz="1000" dirty="0"/>
          </a:p>
        </p:txBody>
      </p:sp>
      <p:cxnSp>
        <p:nvCxnSpPr>
          <p:cNvPr id="314" name="Connector 314"/>
          <p:cNvCxnSpPr/>
          <p:nvPr/>
        </p:nvCxnSpPr>
        <p:spPr>
          <a:xfrm>
            <a:off x="3950208" y="3108960"/>
            <a:ext cx="0" cy="402336"/>
          </a:xfrm>
          <a:prstGeom prst="straightConnector1">
            <a:avLst/>
          </a:prstGeom>
          <a:ln w="12700">
            <a:solidFill>
              <a:srgbClr val="63637E"/>
            </a:solidFill>
            <a:tailEnd type="triangle" w="med" len="med"/>
          </a:ln>
        </p:spPr>
      </p:cxnSp>
      <p:sp>
        <p:nvSpPr>
          <p:cNvPr id="315" name="Shape 315"/>
          <p:cNvSpPr txBox="1"/>
          <p:nvPr/>
        </p:nvSpPr>
        <p:spPr>
          <a:xfrm>
            <a:off x="4023360" y="3191256"/>
            <a:ext cx="100584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i="1" dirty="0">
                <a:solidFill>
                  <a:srgbClr val="63637E"/>
                </a:solidFill>
                <a:latin typeface="Calibri"/>
                <a:ea typeface="Calibri"/>
                <a:cs typeface="Calibri"/>
                <a:sym typeface="Calibri"/>
              </a:rPr>
              <a:t>live slots</a:t>
            </a:r>
            <a:endParaRPr lang="en-US" sz="1000" dirty="0"/>
          </a:p>
        </p:txBody>
      </p:sp>
      <p:cxnSp>
        <p:nvCxnSpPr>
          <p:cNvPr id="316" name="Connector 316"/>
          <p:cNvCxnSpPr/>
          <p:nvPr/>
        </p:nvCxnSpPr>
        <p:spPr>
          <a:xfrm>
            <a:off x="6099048" y="3108960"/>
            <a:ext cx="0" cy="402336"/>
          </a:xfrm>
          <a:prstGeom prst="straightConnector1">
            <a:avLst/>
          </a:prstGeom>
          <a:ln w="12700">
            <a:solidFill>
              <a:srgbClr val="63637E"/>
            </a:solidFill>
            <a:tailEnd type="triangle" w="med" len="med"/>
          </a:ln>
        </p:spPr>
      </p:cxnSp>
      <p:sp>
        <p:nvSpPr>
          <p:cNvPr id="317" name="Shape 317"/>
          <p:cNvSpPr txBox="1"/>
          <p:nvPr/>
        </p:nvSpPr>
        <p:spPr>
          <a:xfrm>
            <a:off x="6172200" y="3191256"/>
            <a:ext cx="100584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i="1" dirty="0">
                <a:solidFill>
                  <a:srgbClr val="63637E"/>
                </a:solidFill>
                <a:latin typeface="Calibri"/>
                <a:ea typeface="Calibri"/>
                <a:cs typeface="Calibri"/>
                <a:sym typeface="Calibri"/>
              </a:rPr>
              <a:t>drafts</a:t>
            </a:r>
            <a:endParaRPr lang="en-US" sz="1000" dirty="0"/>
          </a:p>
        </p:txBody>
      </p:sp>
      <p:cxnSp>
        <p:nvCxnSpPr>
          <p:cNvPr id="318" name="Connector 318"/>
          <p:cNvCxnSpPr/>
          <p:nvPr/>
        </p:nvCxnSpPr>
        <p:spPr>
          <a:xfrm>
            <a:off x="10396728" y="3108960"/>
            <a:ext cx="0" cy="402336"/>
          </a:xfrm>
          <a:prstGeom prst="straightConnector1">
            <a:avLst/>
          </a:prstGeom>
          <a:ln w="12700">
            <a:solidFill>
              <a:srgbClr val="63637E"/>
            </a:solidFill>
            <a:tailEnd type="triangle" w="med" len="med"/>
          </a:ln>
        </p:spPr>
      </p:cxnSp>
      <p:sp>
        <p:nvSpPr>
          <p:cNvPr id="319" name="Shape 319"/>
          <p:cNvSpPr txBox="1"/>
          <p:nvPr/>
        </p:nvSpPr>
        <p:spPr>
          <a:xfrm>
            <a:off x="9317736" y="3191256"/>
            <a:ext cx="1005840" cy="237744"/>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00" i="1" dirty="0">
                <a:solidFill>
                  <a:srgbClr val="63637E"/>
                </a:solidFill>
                <a:latin typeface="Calibri"/>
                <a:ea typeface="Calibri"/>
                <a:cs typeface="Calibri"/>
                <a:sym typeface="Calibri"/>
              </a:rPr>
              <a:t>results, errors</a:t>
            </a:r>
            <a:endParaRPr lang="en-US" sz="1000" dirty="0"/>
          </a:p>
        </p:txBody>
      </p:sp>
      <p:cxnSp>
        <p:nvCxnSpPr>
          <p:cNvPr id="320" name="Connector 320"/>
          <p:cNvCxnSpPr/>
          <p:nvPr/>
        </p:nvCxnSpPr>
        <p:spPr>
          <a:xfrm>
            <a:off x="4818888" y="3977640"/>
            <a:ext cx="411480" cy="0"/>
          </a:xfrm>
          <a:prstGeom prst="straightConnector1">
            <a:avLst/>
          </a:prstGeom>
          <a:ln w="12700">
            <a:solidFill>
              <a:srgbClr val="63637E"/>
            </a:solidFill>
            <a:tailEnd type="triangle" w="med" len="med"/>
          </a:ln>
        </p:spPr>
      </p:cxnSp>
      <p:cxnSp>
        <p:nvCxnSpPr>
          <p:cNvPr id="321" name="Connector 321"/>
          <p:cNvCxnSpPr/>
          <p:nvPr/>
        </p:nvCxnSpPr>
        <p:spPr>
          <a:xfrm flipH="1">
            <a:off x="6967728" y="3977640"/>
            <a:ext cx="411480" cy="0"/>
          </a:xfrm>
          <a:prstGeom prst="straightConnector1">
            <a:avLst/>
          </a:prstGeom>
          <a:ln w="12700">
            <a:solidFill>
              <a:srgbClr val="63637E"/>
            </a:solidFill>
            <a:tailEnd type="triangle" w="med" len="med"/>
          </a:ln>
        </p:spPr>
      </p:cxnSp>
      <p:cxnSp>
        <p:nvCxnSpPr>
          <p:cNvPr id="322" name="Connector 322"/>
          <p:cNvCxnSpPr/>
          <p:nvPr/>
        </p:nvCxnSpPr>
        <p:spPr>
          <a:xfrm>
            <a:off x="6099048" y="4443984"/>
            <a:ext cx="0" cy="384048"/>
          </a:xfrm>
          <a:prstGeom prst="straightConnector1">
            <a:avLst/>
          </a:prstGeom>
          <a:ln w="12700">
            <a:solidFill>
              <a:srgbClr val="63637E"/>
            </a:solidFill>
            <a:tailEnd type="triangle" w="med" len="med"/>
          </a:ln>
        </p:spPr>
      </p:cxnSp>
      <p:sp>
        <p:nvSpPr>
          <p:cNvPr id="323" name="Shape 323"/>
          <p:cNvSpPr txBox="1"/>
          <p:nvPr/>
        </p:nvSpPr>
        <p:spPr>
          <a:xfrm>
            <a:off x="6172200" y="4526280"/>
            <a:ext cx="1188720" cy="23774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i="1" dirty="0">
                <a:solidFill>
                  <a:srgbClr val="63637E"/>
                </a:solidFill>
                <a:latin typeface="Calibri"/>
                <a:ea typeface="Calibri"/>
                <a:cs typeface="Calibri"/>
                <a:sym typeface="Calibri"/>
              </a:rPr>
              <a:t>checked lines only</a:t>
            </a:r>
            <a:endParaRPr lang="en-US" sz="1000" dirty="0"/>
          </a:p>
        </p:txBody>
      </p:sp>
      <p:sp>
        <p:nvSpPr>
          <p:cNvPr id="324" name="Gate rules"/>
          <p:cNvSpPr/>
          <p:nvPr/>
        </p:nvSpPr>
        <p:spPr>
          <a:xfrm>
            <a:off x="932688" y="4828032"/>
            <a:ext cx="3886200" cy="1444752"/>
          </a:xfrm>
          <a:prstGeom prst="roundRect">
            <a:avLst>
              <a:gd name="adj" fmla="val 8000"/>
            </a:avLst>
          </a:prstGeom>
          <a:solidFill>
            <a:srgbClr val="F5F3FF"/>
          </a:solidFill>
          <a:ln>
            <a:noFill/>
          </a:ln>
        </p:spPr>
        <p:txBody>
          <a:bodyPr wrap="square" lIns="164592" tIns="109728" rIns="146304" bIns="73152" rtlCol="0" anchor="t">
            <a:noAutofit/>
          </a:bodyPr>
          <a:lstStyle/>
          <a:p>
            <a:pPr marL="0" indent="0" algn="l">
              <a:spcBef>
                <a:spcPts val="0"/>
              </a:spcBef>
              <a:spcAft>
                <a:spcPts val="400"/>
              </a:spcAft>
              <a:buNone/>
            </a:pPr>
            <a:r>
              <a:rPr lang="en-US" sz="1300" b="1" dirty="0">
                <a:solidFill>
                  <a:srgbClr val="14142B"/>
                </a:solidFill>
                <a:latin typeface="Calibri"/>
                <a:ea typeface="Calibri"/>
                <a:cs typeface="Calibri"/>
                <a:sym typeface="Calibri"/>
              </a:rPr>
              <a:t>What the gate enforces</a:t>
            </a:r>
            <a:endParaRPr lang="en-US" sz="1300" dirty="0"/>
          </a:p>
          <a:p>
            <a:pPr marL="219456" indent="-219456" algn="l">
              <a:lnSpc>
                <a:spcPct val="100000"/>
              </a:lnSpc>
              <a:spcBef>
                <a:spcPts val="0"/>
              </a:spcBef>
              <a:spcAft>
                <a:spcPts val="300"/>
              </a:spcAft>
              <a:buClr>
                <a:srgbClr val="6D28D9"/>
              </a:buClr>
              <a:buSzPct val="100000"/>
              <a:buFont typeface="Calibri"/>
              <a:buAutoNum type="arabicPeriod"/>
            </a:pPr>
            <a:r>
              <a:rPr lang="en-US" sz="1100" dirty="0">
                <a:solidFill>
                  <a:srgbClr val="63637E"/>
                </a:solidFill>
                <a:latin typeface="Calibri"/>
                <a:ea typeface="Calibri"/>
                <a:cs typeface="Calibri"/>
                <a:sym typeface="Calibri"/>
              </a:rPr>
              <a:t>“Booked”, “sent”, “created” need a success receipt for that exact call at the current state version.</a:t>
            </a:r>
            <a:endParaRPr lang="en-US" sz="1100" dirty="0"/>
          </a:p>
          <a:p>
            <a:pPr marL="219456" indent="-219456" algn="l">
              <a:lnSpc>
                <a:spcPct val="100000"/>
              </a:lnSpc>
              <a:spcBef>
                <a:spcPts val="0"/>
              </a:spcBef>
              <a:spcAft>
                <a:spcPts val="300"/>
              </a:spcAft>
              <a:buClr>
                <a:srgbClr val="6D28D9"/>
              </a:buClr>
              <a:buSzPct val="100000"/>
              <a:buFont typeface="Calibri"/>
              <a:buAutoNum type="arabicPeriod"/>
            </a:pPr>
            <a:r>
              <a:rPr lang="en-US" sz="1100" dirty="0">
                <a:solidFill>
                  <a:srgbClr val="63637E"/>
                </a:solidFill>
                <a:latin typeface="Calibri"/>
                <a:ea typeface="Calibri"/>
                <a:cs typeface="Calibri"/>
                <a:sym typeface="Calibri"/>
              </a:rPr>
              <a:t>No receipt yet? The line becomes progress (“Confirming now”) instead of silence.</a:t>
            </a:r>
            <a:endParaRPr lang="en-US" sz="1100" dirty="0"/>
          </a:p>
          <a:p>
            <a:pPr marL="219456" indent="-219456" algn="l">
              <a:lnSpc>
                <a:spcPct val="100000"/>
              </a:lnSpc>
              <a:spcBef>
                <a:spcPts val="0"/>
              </a:spcBef>
              <a:spcAft>
                <a:spcPts val="300"/>
              </a:spcAft>
              <a:buClr>
                <a:srgbClr val="6D28D9"/>
              </a:buClr>
              <a:buSzPct val="100000"/>
              <a:buFont typeface="Calibri"/>
              <a:buAutoNum type="arabicPeriod"/>
            </a:pPr>
            <a:r>
              <a:rPr lang="en-US" sz="1100" dirty="0">
                <a:solidFill>
                  <a:srgbClr val="63637E"/>
                </a:solidFill>
                <a:latin typeface="Calibri"/>
                <a:ea typeface="Calibri"/>
                <a:cs typeface="Calibri"/>
                <a:sym typeface="Calibri"/>
              </a:rPr>
              <a:t>Fillers must mention a live slot, and they’re rationed.</a:t>
            </a:r>
            <a:endParaRPr lang="en-US" sz="1100" dirty="0"/>
          </a:p>
        </p:txBody>
      </p:sp>
      <p:sp>
        <p:nvSpPr>
          <p:cNvPr id="325" name="Gate example"/>
          <p:cNvSpPr/>
          <p:nvPr/>
        </p:nvSpPr>
        <p:spPr>
          <a:xfrm>
            <a:off x="7379208" y="4828032"/>
            <a:ext cx="3886200" cy="1444752"/>
          </a:xfrm>
          <a:prstGeom prst="roundRect">
            <a:avLst>
              <a:gd name="adj" fmla="val 8000"/>
            </a:avLst>
          </a:prstGeom>
          <a:solidFill>
            <a:srgbClr val="FFFFFF"/>
          </a:solidFill>
          <a:ln w="12700">
            <a:solidFill>
              <a:srgbClr val="D9D3F0"/>
            </a:solidFill>
          </a:ln>
        </p:spPr>
        <p:txBody>
          <a:bodyPr wrap="square" lIns="164592" tIns="109728" rIns="146304" bIns="73152" rtlCol="0" anchor="t">
            <a:noAutofit/>
          </a:bodyPr>
          <a:lstStyle/>
          <a:p>
            <a:pPr marL="0" indent="0" algn="l">
              <a:spcBef>
                <a:spcPts val="0"/>
              </a:spcBef>
              <a:spcAft>
                <a:spcPts val="500"/>
              </a:spcAft>
              <a:buNone/>
            </a:pPr>
            <a:r>
              <a:rPr lang="en-US" sz="1300" b="1" dirty="0">
                <a:solidFill>
                  <a:srgbClr val="14142B"/>
                </a:solidFill>
                <a:latin typeface="Calibri"/>
                <a:ea typeface="Calibri"/>
                <a:cs typeface="Calibri"/>
                <a:sym typeface="Calibri"/>
              </a:rPr>
              <a:t>Caught by the gate</a:t>
            </a:r>
            <a:endParaRPr lang="en-US" sz="1300" dirty="0"/>
          </a:p>
          <a:p>
            <a:pPr marL="0" indent="0" algn="l">
              <a:spcBef>
                <a:spcPts val="0"/>
              </a:spcBef>
              <a:spcAft>
                <a:spcPts val="300"/>
              </a:spcAft>
              <a:buNone/>
            </a:pPr>
            <a:r>
              <a:rPr lang="en-US" sz="1300" strike="sngStrike" dirty="0">
                <a:solidFill>
                  <a:srgbClr val="63637E"/>
                </a:solidFill>
                <a:latin typeface="Calibri"/>
                <a:ea typeface="Calibri"/>
                <a:cs typeface="Calibri"/>
                <a:sym typeface="Calibri"/>
              </a:rPr>
              <a:t>“Your Pune flight is booked!”</a:t>
            </a:r>
            <a:endParaRPr lang="en-US" sz="1300" dirty="0"/>
          </a:p>
          <a:p>
            <a:pPr marL="0" indent="0" algn="l">
              <a:spcBef>
                <a:spcPts val="0"/>
              </a:spcBef>
              <a:spcAft>
                <a:spcPts val="500"/>
              </a:spcAft>
              <a:buNone/>
            </a:pPr>
            <a:r>
              <a:rPr lang="en-US" sz="1300" b="1" dirty="0">
                <a:solidFill>
                  <a:srgbClr val="6D28D9"/>
                </a:solidFill>
                <a:latin typeface="Calibri"/>
                <a:ea typeface="Calibri"/>
                <a:cs typeface="Calibri"/>
                <a:sym typeface="Calibri"/>
              </a:rPr>
              <a:t>→  “Confirming your Pune seat now.”</a:t>
            </a:r>
            <a:endParaRPr lang="en-US" sz="1300" dirty="0"/>
          </a:p>
          <a:p>
            <a:pPr marL="0" indent="0" algn="l">
              <a:spcBef>
                <a:spcPts val="0"/>
              </a:spcBef>
              <a:spcAft>
                <a:spcPts val="0"/>
              </a:spcAft>
              <a:buNone/>
            </a:pPr>
            <a:r>
              <a:rPr lang="en-US" sz="1050" i="1" dirty="0">
                <a:solidFill>
                  <a:srgbClr val="63637E"/>
                </a:solidFill>
                <a:latin typeface="Calibri"/>
                <a:ea typeface="Calibri"/>
                <a:cs typeface="Calibri"/>
                <a:sym typeface="Calibri"/>
              </a:rPr>
              <a:t>The planner’s draft was blocked: bk-8 was still pending.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Demo &amp; Product Walkthrough</a:t>
            </a:r>
            <a:endParaRPr/>
          </a:p>
        </p:txBody>
      </p:sp>
      <p:sp>
        <p:nvSpPr>
          <p:cNvPr id="301" name="Shape 301"/>
          <p:cNvSpPr txBox="1"/>
          <p:nvPr/>
        </p:nvSpPr>
        <p:spPr>
          <a:xfrm>
            <a:off x="932688" y="1554480"/>
            <a:ext cx="10332720" cy="31089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dirty="0">
                <a:solidFill>
                  <a:srgbClr val="63637E"/>
                </a:solidFill>
                <a:latin typeface="Calibri"/>
                <a:ea typeface="Calibri"/>
                <a:cs typeface="Calibri"/>
                <a:sym typeface="Calibri"/>
              </a:rPr>
              <a:t>One scenario, start to finish: a flight booking where the user changes the city mid-call and the booking API times out once.</a:t>
            </a:r>
            <a:endParaRPr lang="en-US" sz="1300" dirty="0"/>
          </a:p>
        </p:txBody>
      </p:sp>
      <p:sp>
        <p:nvSpPr>
          <p:cNvPr id="302" name="Agent lane"/>
          <p:cNvSpPr/>
          <p:nvPr/>
        </p:nvSpPr>
        <p:spPr>
          <a:xfrm>
            <a:off x="932688" y="3200400"/>
            <a:ext cx="10332720" cy="1335024"/>
          </a:xfrm>
          <a:prstGeom prst="roundRect">
            <a:avLst>
              <a:gd name="adj" fmla="val 6000"/>
            </a:avLst>
          </a:prstGeom>
          <a:solidFill>
            <a:srgbClr val="F5F3FF"/>
          </a:solidFill>
          <a:ln>
            <a:noFill/>
          </a:ln>
        </p:spPr>
        <p:txBody>
          <a:bodyPr wrap="square" lIns="0" tIns="0" rIns="0" bIns="0" rtlCol="0" anchor="t">
            <a:noAutofit/>
          </a:bodyPr>
          <a:lstStyle/>
          <a:p>
            <a:endParaRPr lang="en-US" dirty="0"/>
          </a:p>
        </p:txBody>
      </p:sp>
      <p:cxnSp>
        <p:nvCxnSpPr>
          <p:cNvPr id="303" name="Connector 303"/>
          <p:cNvCxnSpPr/>
          <p:nvPr/>
        </p:nvCxnSpPr>
        <p:spPr>
          <a:xfrm>
            <a:off x="2240280" y="2304288"/>
            <a:ext cx="9025128" cy="0"/>
          </a:xfrm>
          <a:prstGeom prst="straightConnector1">
            <a:avLst/>
          </a:prstGeom>
          <a:ln w="19050">
            <a:solidFill>
              <a:srgbClr val="D9D3F0"/>
            </a:solidFill>
          </a:ln>
        </p:spPr>
      </p:cxnSp>
      <p:cxnSp>
        <p:nvCxnSpPr>
          <p:cNvPr id="304" name="Connector 304"/>
          <p:cNvCxnSpPr/>
          <p:nvPr/>
        </p:nvCxnSpPr>
        <p:spPr>
          <a:xfrm>
            <a:off x="2240280" y="2395728"/>
            <a:ext cx="0" cy="3346704"/>
          </a:xfrm>
          <a:prstGeom prst="straightConnector1">
            <a:avLst/>
          </a:prstGeom>
          <a:ln w="9525">
            <a:solidFill>
              <a:srgbClr val="D9D3F0"/>
            </a:solidFill>
            <a:prstDash val="dash"/>
          </a:ln>
        </p:spPr>
      </p:cxnSp>
      <p:cxnSp>
        <p:nvCxnSpPr>
          <p:cNvPr id="305" name="Connector 305"/>
          <p:cNvCxnSpPr/>
          <p:nvPr/>
        </p:nvCxnSpPr>
        <p:spPr>
          <a:xfrm>
            <a:off x="3744468" y="2395728"/>
            <a:ext cx="0" cy="3346704"/>
          </a:xfrm>
          <a:prstGeom prst="straightConnector1">
            <a:avLst/>
          </a:prstGeom>
          <a:ln w="9525">
            <a:solidFill>
              <a:srgbClr val="D9D3F0"/>
            </a:solidFill>
            <a:prstDash val="dash"/>
          </a:ln>
        </p:spPr>
      </p:cxnSp>
      <p:cxnSp>
        <p:nvCxnSpPr>
          <p:cNvPr id="306" name="Connector 306"/>
          <p:cNvCxnSpPr/>
          <p:nvPr/>
        </p:nvCxnSpPr>
        <p:spPr>
          <a:xfrm>
            <a:off x="5248656" y="2395728"/>
            <a:ext cx="0" cy="3346704"/>
          </a:xfrm>
          <a:prstGeom prst="straightConnector1">
            <a:avLst/>
          </a:prstGeom>
          <a:ln w="9525">
            <a:solidFill>
              <a:srgbClr val="D9D3F0"/>
            </a:solidFill>
            <a:prstDash val="dash"/>
          </a:ln>
        </p:spPr>
      </p:cxnSp>
      <p:cxnSp>
        <p:nvCxnSpPr>
          <p:cNvPr id="307" name="Connector 307"/>
          <p:cNvCxnSpPr/>
          <p:nvPr/>
        </p:nvCxnSpPr>
        <p:spPr>
          <a:xfrm>
            <a:off x="6752844" y="2395728"/>
            <a:ext cx="0" cy="3346704"/>
          </a:xfrm>
          <a:prstGeom prst="straightConnector1">
            <a:avLst/>
          </a:prstGeom>
          <a:ln w="9525">
            <a:solidFill>
              <a:srgbClr val="D9D3F0"/>
            </a:solidFill>
            <a:prstDash val="dash"/>
          </a:ln>
        </p:spPr>
      </p:cxnSp>
      <p:cxnSp>
        <p:nvCxnSpPr>
          <p:cNvPr id="308" name="Connector 308"/>
          <p:cNvCxnSpPr/>
          <p:nvPr/>
        </p:nvCxnSpPr>
        <p:spPr>
          <a:xfrm>
            <a:off x="8257032" y="2395728"/>
            <a:ext cx="0" cy="3346704"/>
          </a:xfrm>
          <a:prstGeom prst="straightConnector1">
            <a:avLst/>
          </a:prstGeom>
          <a:ln w="9525">
            <a:solidFill>
              <a:srgbClr val="D9D3F0"/>
            </a:solidFill>
            <a:prstDash val="dash"/>
          </a:ln>
        </p:spPr>
      </p:cxnSp>
      <p:cxnSp>
        <p:nvCxnSpPr>
          <p:cNvPr id="309" name="Connector 309"/>
          <p:cNvCxnSpPr/>
          <p:nvPr/>
        </p:nvCxnSpPr>
        <p:spPr>
          <a:xfrm>
            <a:off x="9761220" y="2395728"/>
            <a:ext cx="0" cy="3346704"/>
          </a:xfrm>
          <a:prstGeom prst="straightConnector1">
            <a:avLst/>
          </a:prstGeom>
          <a:ln w="9525">
            <a:solidFill>
              <a:srgbClr val="D9D3F0"/>
            </a:solidFill>
            <a:prstDash val="dash"/>
          </a:ln>
        </p:spPr>
      </p:cxnSp>
      <p:sp>
        <p:nvSpPr>
          <p:cNvPr id="310" name="Time dot"/>
          <p:cNvSpPr/>
          <p:nvPr/>
        </p:nvSpPr>
        <p:spPr>
          <a:xfrm>
            <a:off x="2176272" y="2240280"/>
            <a:ext cx="128016" cy="128016"/>
          </a:xfrm>
          <a:prstGeom prst="ellipse">
            <a:avLst/>
          </a:prstGeom>
          <a:solidFill>
            <a:srgbClr val="6D28D9"/>
          </a:solidFill>
          <a:ln>
            <a:noFill/>
          </a:ln>
        </p:spPr>
        <p:txBody>
          <a:bodyPr wrap="square" lIns="0" tIns="0" rIns="0" bIns="0" rtlCol="0" anchor="t">
            <a:noAutofit/>
          </a:bodyPr>
          <a:lstStyle/>
          <a:p>
            <a:endParaRPr lang="en-US" dirty="0"/>
          </a:p>
        </p:txBody>
      </p:sp>
      <p:sp>
        <p:nvSpPr>
          <p:cNvPr id="311" name="Shape 311"/>
          <p:cNvSpPr txBox="1"/>
          <p:nvPr/>
        </p:nvSpPr>
        <p:spPr>
          <a:xfrm>
            <a:off x="2331720" y="1920240"/>
            <a:ext cx="1097280" cy="27432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0.0 s</a:t>
            </a:r>
            <a:endParaRPr lang="en-US" sz="1300" dirty="0"/>
          </a:p>
        </p:txBody>
      </p:sp>
      <p:sp>
        <p:nvSpPr>
          <p:cNvPr id="312" name="Time dot"/>
          <p:cNvSpPr/>
          <p:nvPr/>
        </p:nvSpPr>
        <p:spPr>
          <a:xfrm>
            <a:off x="3680460" y="2240280"/>
            <a:ext cx="128016" cy="128016"/>
          </a:xfrm>
          <a:prstGeom prst="ellipse">
            <a:avLst/>
          </a:prstGeom>
          <a:solidFill>
            <a:srgbClr val="6D28D9"/>
          </a:solidFill>
          <a:ln>
            <a:noFill/>
          </a:ln>
        </p:spPr>
        <p:txBody>
          <a:bodyPr wrap="square" lIns="0" tIns="0" rIns="0" bIns="0" rtlCol="0" anchor="t">
            <a:noAutofit/>
          </a:bodyPr>
          <a:lstStyle/>
          <a:p>
            <a:endParaRPr lang="en-US" dirty="0"/>
          </a:p>
        </p:txBody>
      </p:sp>
      <p:sp>
        <p:nvSpPr>
          <p:cNvPr id="313" name="Shape 313"/>
          <p:cNvSpPr txBox="1"/>
          <p:nvPr/>
        </p:nvSpPr>
        <p:spPr>
          <a:xfrm>
            <a:off x="3835908" y="1920240"/>
            <a:ext cx="1097280" cy="27432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0.2 s</a:t>
            </a:r>
            <a:endParaRPr lang="en-US" sz="1300" dirty="0"/>
          </a:p>
        </p:txBody>
      </p:sp>
      <p:sp>
        <p:nvSpPr>
          <p:cNvPr id="314" name="Time dot"/>
          <p:cNvSpPr/>
          <p:nvPr/>
        </p:nvSpPr>
        <p:spPr>
          <a:xfrm>
            <a:off x="5184648" y="2240280"/>
            <a:ext cx="128016" cy="128016"/>
          </a:xfrm>
          <a:prstGeom prst="ellipse">
            <a:avLst/>
          </a:prstGeom>
          <a:solidFill>
            <a:srgbClr val="6D28D9"/>
          </a:solidFill>
          <a:ln>
            <a:noFill/>
          </a:ln>
        </p:spPr>
        <p:txBody>
          <a:bodyPr wrap="square" lIns="0" tIns="0" rIns="0" bIns="0" rtlCol="0" anchor="t">
            <a:noAutofit/>
          </a:bodyPr>
          <a:lstStyle/>
          <a:p>
            <a:endParaRPr lang="en-US" dirty="0"/>
          </a:p>
        </p:txBody>
      </p:sp>
      <p:sp>
        <p:nvSpPr>
          <p:cNvPr id="315" name="Shape 315"/>
          <p:cNvSpPr txBox="1"/>
          <p:nvPr/>
        </p:nvSpPr>
        <p:spPr>
          <a:xfrm>
            <a:off x="5340096" y="1920240"/>
            <a:ext cx="1097280" cy="27432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1.9 s</a:t>
            </a:r>
            <a:endParaRPr lang="en-US" sz="1300" dirty="0"/>
          </a:p>
        </p:txBody>
      </p:sp>
      <p:sp>
        <p:nvSpPr>
          <p:cNvPr id="316" name="Time dot"/>
          <p:cNvSpPr/>
          <p:nvPr/>
        </p:nvSpPr>
        <p:spPr>
          <a:xfrm>
            <a:off x="6688836" y="2240280"/>
            <a:ext cx="128016" cy="128016"/>
          </a:xfrm>
          <a:prstGeom prst="ellipse">
            <a:avLst/>
          </a:prstGeom>
          <a:solidFill>
            <a:srgbClr val="6D28D9"/>
          </a:solidFill>
          <a:ln>
            <a:noFill/>
          </a:ln>
        </p:spPr>
        <p:txBody>
          <a:bodyPr wrap="square" lIns="0" tIns="0" rIns="0" bIns="0" rtlCol="0" anchor="t">
            <a:noAutofit/>
          </a:bodyPr>
          <a:lstStyle/>
          <a:p>
            <a:endParaRPr lang="en-US" dirty="0"/>
          </a:p>
        </p:txBody>
      </p:sp>
      <p:sp>
        <p:nvSpPr>
          <p:cNvPr id="317" name="Shape 317"/>
          <p:cNvSpPr txBox="1"/>
          <p:nvPr/>
        </p:nvSpPr>
        <p:spPr>
          <a:xfrm>
            <a:off x="6844284" y="1920240"/>
            <a:ext cx="1097280" cy="27432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3.0 s</a:t>
            </a:r>
            <a:endParaRPr lang="en-US" sz="1300" dirty="0"/>
          </a:p>
        </p:txBody>
      </p:sp>
      <p:sp>
        <p:nvSpPr>
          <p:cNvPr id="318" name="Time dot"/>
          <p:cNvSpPr/>
          <p:nvPr/>
        </p:nvSpPr>
        <p:spPr>
          <a:xfrm>
            <a:off x="8193024" y="2240280"/>
            <a:ext cx="128016" cy="128016"/>
          </a:xfrm>
          <a:prstGeom prst="ellipse">
            <a:avLst/>
          </a:prstGeom>
          <a:solidFill>
            <a:srgbClr val="6D28D9"/>
          </a:solidFill>
          <a:ln>
            <a:noFill/>
          </a:ln>
        </p:spPr>
        <p:txBody>
          <a:bodyPr wrap="square" lIns="0" tIns="0" rIns="0" bIns="0" rtlCol="0" anchor="t">
            <a:noAutofit/>
          </a:bodyPr>
          <a:lstStyle/>
          <a:p>
            <a:endParaRPr lang="en-US" dirty="0"/>
          </a:p>
        </p:txBody>
      </p:sp>
      <p:sp>
        <p:nvSpPr>
          <p:cNvPr id="319" name="Shape 319"/>
          <p:cNvSpPr txBox="1"/>
          <p:nvPr/>
        </p:nvSpPr>
        <p:spPr>
          <a:xfrm>
            <a:off x="8348472" y="1920240"/>
            <a:ext cx="1097280" cy="27432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4.8 s</a:t>
            </a:r>
            <a:endParaRPr lang="en-US" sz="1300" dirty="0"/>
          </a:p>
        </p:txBody>
      </p:sp>
      <p:sp>
        <p:nvSpPr>
          <p:cNvPr id="320" name="Time dot"/>
          <p:cNvSpPr/>
          <p:nvPr/>
        </p:nvSpPr>
        <p:spPr>
          <a:xfrm>
            <a:off x="9697212" y="2240280"/>
            <a:ext cx="128016" cy="128016"/>
          </a:xfrm>
          <a:prstGeom prst="ellipse">
            <a:avLst/>
          </a:prstGeom>
          <a:solidFill>
            <a:srgbClr val="6D28D9"/>
          </a:solidFill>
          <a:ln>
            <a:noFill/>
          </a:ln>
        </p:spPr>
        <p:txBody>
          <a:bodyPr wrap="square" lIns="0" tIns="0" rIns="0" bIns="0" rtlCol="0" anchor="t">
            <a:noAutofit/>
          </a:bodyPr>
          <a:lstStyle/>
          <a:p>
            <a:endParaRPr lang="en-US" dirty="0"/>
          </a:p>
        </p:txBody>
      </p:sp>
      <p:sp>
        <p:nvSpPr>
          <p:cNvPr id="321" name="Shape 321"/>
          <p:cNvSpPr txBox="1"/>
          <p:nvPr/>
        </p:nvSpPr>
        <p:spPr>
          <a:xfrm>
            <a:off x="9852660" y="1920240"/>
            <a:ext cx="1097280" cy="27432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6.1 s</a:t>
            </a:r>
            <a:endParaRPr lang="en-US" sz="1300" dirty="0"/>
          </a:p>
        </p:txBody>
      </p:sp>
      <p:sp>
        <p:nvSpPr>
          <p:cNvPr id="322" name="Shape 322"/>
          <p:cNvSpPr txBox="1"/>
          <p:nvPr/>
        </p:nvSpPr>
        <p:spPr>
          <a:xfrm>
            <a:off x="1042416" y="2505456"/>
            <a:ext cx="1097280" cy="621792"/>
          </a:xfrm>
          <a:prstGeom prst="rect">
            <a:avLst/>
          </a:prstGeom>
          <a:noFill/>
          <a:ln>
            <a:noFill/>
          </a:ln>
        </p:spPr>
        <p:txBody>
          <a:bodyPr wrap="square" lIns="0" tIns="0" rIns="0" bIns="0" rtlCol="0" anchor="ctr">
            <a:noAutofit/>
          </a:bodyPr>
          <a:lstStyle/>
          <a:p>
            <a:pPr marL="0" indent="0" algn="l">
              <a:lnSpc>
                <a:spcPct val="95000"/>
              </a:lnSpc>
              <a:spcBef>
                <a:spcPts val="0"/>
              </a:spcBef>
              <a:spcAft>
                <a:spcPts val="0"/>
              </a:spcAft>
              <a:buNone/>
            </a:pPr>
            <a:r>
              <a:rPr lang="en-US" sz="1000" b="1" spc="80" dirty="0">
                <a:solidFill>
                  <a:srgbClr val="63637E"/>
                </a:solidFill>
                <a:latin typeface="Calibri"/>
                <a:ea typeface="Calibri"/>
                <a:cs typeface="Calibri"/>
                <a:sym typeface="Calibri"/>
              </a:rPr>
              <a:t>USER</a:t>
            </a:r>
            <a:endParaRPr lang="en-US" sz="1000" dirty="0"/>
          </a:p>
        </p:txBody>
      </p:sp>
      <p:sp>
        <p:nvSpPr>
          <p:cNvPr id="323" name="Shape 323"/>
          <p:cNvSpPr txBox="1"/>
          <p:nvPr/>
        </p:nvSpPr>
        <p:spPr>
          <a:xfrm>
            <a:off x="1042416" y="3200400"/>
            <a:ext cx="1097280" cy="1335024"/>
          </a:xfrm>
          <a:prstGeom prst="rect">
            <a:avLst/>
          </a:prstGeom>
          <a:noFill/>
          <a:ln>
            <a:noFill/>
          </a:ln>
        </p:spPr>
        <p:txBody>
          <a:bodyPr wrap="square" lIns="0" tIns="0" rIns="0" bIns="0" rtlCol="0" anchor="ctr">
            <a:noAutofit/>
          </a:bodyPr>
          <a:lstStyle/>
          <a:p>
            <a:pPr marL="0" indent="0" algn="l">
              <a:lnSpc>
                <a:spcPct val="95000"/>
              </a:lnSpc>
              <a:spcBef>
                <a:spcPts val="0"/>
              </a:spcBef>
              <a:spcAft>
                <a:spcPts val="0"/>
              </a:spcAft>
              <a:buNone/>
            </a:pPr>
            <a:r>
              <a:rPr lang="en-US" sz="1000" b="1" spc="80" dirty="0">
                <a:solidFill>
                  <a:srgbClr val="63637E"/>
                </a:solidFill>
                <a:latin typeface="Calibri"/>
                <a:ea typeface="Calibri"/>
                <a:cs typeface="Calibri"/>
                <a:sym typeface="Calibri"/>
              </a:rPr>
              <a:t>AGENT SAYS</a:t>
            </a:r>
            <a:endParaRPr lang="en-US" sz="1000" dirty="0"/>
          </a:p>
        </p:txBody>
      </p:sp>
      <p:sp>
        <p:nvSpPr>
          <p:cNvPr id="324" name="Shape 324"/>
          <p:cNvSpPr txBox="1"/>
          <p:nvPr/>
        </p:nvSpPr>
        <p:spPr>
          <a:xfrm>
            <a:off x="1042416" y="4608576"/>
            <a:ext cx="1097280" cy="1133856"/>
          </a:xfrm>
          <a:prstGeom prst="rect">
            <a:avLst/>
          </a:prstGeom>
          <a:noFill/>
          <a:ln>
            <a:noFill/>
          </a:ln>
        </p:spPr>
        <p:txBody>
          <a:bodyPr wrap="square" lIns="0" tIns="0" rIns="0" bIns="0" rtlCol="0" anchor="ctr">
            <a:noAutofit/>
          </a:bodyPr>
          <a:lstStyle/>
          <a:p>
            <a:pPr marL="0" indent="0" algn="l">
              <a:lnSpc>
                <a:spcPct val="95000"/>
              </a:lnSpc>
              <a:spcBef>
                <a:spcPts val="0"/>
              </a:spcBef>
              <a:spcAft>
                <a:spcPts val="0"/>
              </a:spcAft>
              <a:buNone/>
            </a:pPr>
            <a:r>
              <a:rPr lang="en-US" sz="1000" b="1" spc="80" dirty="0">
                <a:solidFill>
                  <a:srgbClr val="63637E"/>
                </a:solidFill>
                <a:latin typeface="Calibri"/>
                <a:ea typeface="Calibri"/>
                <a:cs typeface="Calibri"/>
                <a:sym typeface="Calibri"/>
              </a:rPr>
              <a:t>BEHIND THE SCENES</a:t>
            </a:r>
            <a:endParaRPr lang="en-US" sz="1000" dirty="0"/>
          </a:p>
        </p:txBody>
      </p:sp>
      <p:sp>
        <p:nvSpPr>
          <p:cNvPr id="325" name="Shape 325"/>
          <p:cNvSpPr txBox="1"/>
          <p:nvPr/>
        </p:nvSpPr>
        <p:spPr>
          <a:xfrm>
            <a:off x="2331720" y="2523744"/>
            <a:ext cx="1357884" cy="585216"/>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00" dirty="0">
                <a:solidFill>
                  <a:srgbClr val="14142B"/>
                </a:solidFill>
                <a:latin typeface="Calibri"/>
                <a:ea typeface="Calibri"/>
                <a:cs typeface="Calibri"/>
                <a:sym typeface="Calibri"/>
              </a:rPr>
              <a:t>“Book the 6:40 to Mumbai tomorrow.”</a:t>
            </a:r>
            <a:endParaRPr lang="en-US" sz="1200" dirty="0"/>
          </a:p>
        </p:txBody>
      </p:sp>
      <p:sp>
        <p:nvSpPr>
          <p:cNvPr id="326" name="Shape 326"/>
          <p:cNvSpPr txBox="1"/>
          <p:nvPr/>
        </p:nvSpPr>
        <p:spPr>
          <a:xfrm>
            <a:off x="5340096" y="2523744"/>
            <a:ext cx="1357884" cy="585216"/>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00" dirty="0">
                <a:solidFill>
                  <a:srgbClr val="14142B"/>
                </a:solidFill>
                <a:latin typeface="Calibri"/>
                <a:ea typeface="Calibri"/>
                <a:cs typeface="Calibri"/>
                <a:sym typeface="Calibri"/>
              </a:rPr>
              <a:t>“Wait, make it Pune.”</a:t>
            </a:r>
            <a:endParaRPr lang="en-US" sz="1200" dirty="0"/>
          </a:p>
        </p:txBody>
      </p:sp>
      <p:sp>
        <p:nvSpPr>
          <p:cNvPr id="327" name="Shape 327"/>
          <p:cNvSpPr txBox="1"/>
          <p:nvPr/>
        </p:nvSpPr>
        <p:spPr>
          <a:xfrm>
            <a:off x="3835908" y="3218688"/>
            <a:ext cx="1357884" cy="129844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00" dirty="0">
                <a:solidFill>
                  <a:srgbClr val="14142B"/>
                </a:solidFill>
                <a:latin typeface="Calibri"/>
                <a:ea typeface="Calibri"/>
                <a:cs typeface="Calibri"/>
                <a:sym typeface="Calibri"/>
              </a:rPr>
              <a:t>“Booking the 6:40 to Mumbai for tomorrow.”</a:t>
            </a:r>
            <a:endParaRPr lang="en-US" sz="1200" dirty="0"/>
          </a:p>
          <a:p>
            <a:pPr marL="0" indent="0" algn="l">
              <a:spcBef>
                <a:spcPts val="300"/>
              </a:spcBef>
              <a:spcAft>
                <a:spcPts val="0"/>
              </a:spcAft>
              <a:buNone/>
            </a:pPr>
            <a:r>
              <a:rPr lang="en-US" sz="1000" i="1" dirty="0">
                <a:solidFill>
                  <a:srgbClr val="63637E"/>
                </a:solidFill>
                <a:latin typeface="Calibri"/>
                <a:ea typeface="Calibri"/>
                <a:cs typeface="Calibri"/>
                <a:sym typeface="Calibri"/>
              </a:rPr>
              <a:t>fast path, from slots</a:t>
            </a:r>
            <a:endParaRPr lang="en-US" sz="1000" dirty="0"/>
          </a:p>
        </p:txBody>
      </p:sp>
      <p:sp>
        <p:nvSpPr>
          <p:cNvPr id="328" name="Shape 328"/>
          <p:cNvSpPr txBox="1"/>
          <p:nvPr/>
        </p:nvSpPr>
        <p:spPr>
          <a:xfrm>
            <a:off x="5340096" y="3218688"/>
            <a:ext cx="1357884" cy="129844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00" dirty="0">
                <a:solidFill>
                  <a:srgbClr val="14142B"/>
                </a:solidFill>
                <a:latin typeface="Calibri"/>
                <a:ea typeface="Calibri"/>
                <a:cs typeface="Calibri"/>
                <a:sym typeface="Calibri"/>
              </a:rPr>
              <a:t>“Okay, Pune instead.”</a:t>
            </a:r>
            <a:endParaRPr lang="en-US" sz="1200" dirty="0"/>
          </a:p>
        </p:txBody>
      </p:sp>
      <p:sp>
        <p:nvSpPr>
          <p:cNvPr id="329" name="Shape 329"/>
          <p:cNvSpPr txBox="1"/>
          <p:nvPr/>
        </p:nvSpPr>
        <p:spPr>
          <a:xfrm>
            <a:off x="6844284" y="3218688"/>
            <a:ext cx="1357884" cy="129844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strike="sngStrike" dirty="0">
                <a:solidFill>
                  <a:srgbClr val="63637E"/>
                </a:solidFill>
                <a:latin typeface="Calibri"/>
                <a:ea typeface="Calibri"/>
                <a:cs typeface="Calibri"/>
                <a:sym typeface="Calibri"/>
              </a:rPr>
              <a:t>“Your Pune flight is booked!”</a:t>
            </a:r>
            <a:endParaRPr lang="en-US" sz="1200" dirty="0"/>
          </a:p>
          <a:p>
            <a:pPr marL="0" indent="0" algn="l">
              <a:spcBef>
                <a:spcPts val="300"/>
              </a:spcBef>
              <a:spcAft>
                <a:spcPts val="0"/>
              </a:spcAft>
              <a:buNone/>
            </a:pPr>
            <a:r>
              <a:rPr lang="en-US" sz="1200" b="1" dirty="0">
                <a:solidFill>
                  <a:srgbClr val="6D28D9"/>
                </a:solidFill>
                <a:latin typeface="Calibri"/>
                <a:ea typeface="Calibri"/>
                <a:cs typeface="Calibri"/>
                <a:sym typeface="Calibri"/>
              </a:rPr>
              <a:t>“Confirming your Pune seat now.”</a:t>
            </a:r>
            <a:endParaRPr lang="en-US" sz="1200" dirty="0"/>
          </a:p>
          <a:p>
            <a:pPr marL="0" indent="0" algn="l">
              <a:spcBef>
                <a:spcPts val="300"/>
              </a:spcBef>
              <a:spcAft>
                <a:spcPts val="0"/>
              </a:spcAft>
              <a:buNone/>
            </a:pPr>
            <a:r>
              <a:rPr lang="en-US" sz="1000" i="1" dirty="0">
                <a:solidFill>
                  <a:srgbClr val="6D28D9"/>
                </a:solidFill>
                <a:latin typeface="Calibri"/>
                <a:ea typeface="Calibri"/>
                <a:cs typeface="Calibri"/>
                <a:sym typeface="Calibri"/>
              </a:rPr>
              <a:t>rewritten by the gate</a:t>
            </a:r>
            <a:endParaRPr lang="en-US" sz="1000" dirty="0"/>
          </a:p>
        </p:txBody>
      </p:sp>
      <p:sp>
        <p:nvSpPr>
          <p:cNvPr id="330" name="Shape 330"/>
          <p:cNvSpPr txBox="1"/>
          <p:nvPr/>
        </p:nvSpPr>
        <p:spPr>
          <a:xfrm>
            <a:off x="8348472" y="3218688"/>
            <a:ext cx="1357884" cy="129844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00" dirty="0">
                <a:solidFill>
                  <a:srgbClr val="14142B"/>
                </a:solidFill>
                <a:latin typeface="Calibri"/>
                <a:ea typeface="Calibri"/>
                <a:cs typeface="Calibri"/>
                <a:sym typeface="Calibri"/>
              </a:rPr>
              <a:t>“The airline’s system is slow, trying once more.”</a:t>
            </a:r>
            <a:endParaRPr lang="en-US" sz="1200" dirty="0"/>
          </a:p>
        </p:txBody>
      </p:sp>
      <p:sp>
        <p:nvSpPr>
          <p:cNvPr id="331" name="Shape 331"/>
          <p:cNvSpPr txBox="1"/>
          <p:nvPr/>
        </p:nvSpPr>
        <p:spPr>
          <a:xfrm>
            <a:off x="9852660" y="3218688"/>
            <a:ext cx="1357884" cy="129844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00" dirty="0">
                <a:solidFill>
                  <a:srgbClr val="14142B"/>
                </a:solidFill>
                <a:latin typeface="Calibri"/>
                <a:ea typeface="Calibri"/>
                <a:cs typeface="Calibri"/>
                <a:sym typeface="Calibri"/>
              </a:rPr>
              <a:t>“Done. You’re on the 6:40 to Pune tomorrow.”</a:t>
            </a:r>
            <a:endParaRPr lang="en-US" sz="1200" dirty="0"/>
          </a:p>
        </p:txBody>
      </p:sp>
      <p:sp>
        <p:nvSpPr>
          <p:cNvPr id="332" name="Shape 332"/>
          <p:cNvSpPr txBox="1"/>
          <p:nvPr/>
        </p:nvSpPr>
        <p:spPr>
          <a:xfrm>
            <a:off x="2331720" y="4626864"/>
            <a:ext cx="1357884" cy="10972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050" dirty="0">
                <a:solidFill>
                  <a:srgbClr val="63637E"/>
                </a:solidFill>
                <a:latin typeface="Calibri"/>
                <a:ea typeface="Calibri"/>
                <a:cs typeface="Calibri"/>
                <a:sym typeface="Calibri"/>
              </a:rPr>
              <a:t>Slots: BOM, 6:40, tomorrow. State </a:t>
            </a:r>
            <a:r>
              <a:rPr lang="en-US" sz="1050" b="1" dirty="0">
                <a:solidFill>
                  <a:srgbClr val="14142B"/>
                </a:solidFill>
                <a:latin typeface="Calibri"/>
                <a:ea typeface="Calibri"/>
                <a:cs typeface="Calibri"/>
                <a:sym typeface="Calibri"/>
              </a:rPr>
              <a:t>v6</a:t>
            </a:r>
            <a:r>
              <a:rPr lang="en-US" sz="1050" dirty="0">
                <a:solidFill>
                  <a:srgbClr val="63637E"/>
                </a:solidFill>
                <a:latin typeface="Calibri"/>
                <a:ea typeface="Calibri"/>
                <a:cs typeface="Calibri"/>
                <a:sym typeface="Calibri"/>
              </a:rPr>
              <a:t>.</a:t>
            </a:r>
            <a:endParaRPr lang="en-US" sz="1050" dirty="0"/>
          </a:p>
        </p:txBody>
      </p:sp>
      <p:sp>
        <p:nvSpPr>
          <p:cNvPr id="333" name="Shape 333"/>
          <p:cNvSpPr txBox="1"/>
          <p:nvPr/>
        </p:nvSpPr>
        <p:spPr>
          <a:xfrm>
            <a:off x="3835908" y="4626864"/>
            <a:ext cx="1357884" cy="10972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050" dirty="0">
                <a:solidFill>
                  <a:srgbClr val="63637E"/>
                </a:solidFill>
                <a:latin typeface="Calibri"/>
                <a:ea typeface="Calibri"/>
                <a:cs typeface="Calibri"/>
                <a:sym typeface="Calibri"/>
              </a:rPr>
              <a:t>book_flight sent as </a:t>
            </a:r>
            <a:r>
              <a:rPr lang="en-US" sz="1050" b="1" dirty="0">
                <a:solidFill>
                  <a:srgbClr val="14142B"/>
                </a:solidFill>
                <a:latin typeface="Calibri"/>
                <a:ea typeface="Calibri"/>
                <a:cs typeface="Calibri"/>
                <a:sym typeface="Calibri"/>
              </a:rPr>
              <a:t>bk-7</a:t>
            </a:r>
            <a:endParaRPr lang="en-US" sz="1050" dirty="0"/>
          </a:p>
        </p:txBody>
      </p:sp>
      <p:sp>
        <p:nvSpPr>
          <p:cNvPr id="334" name="Shape 334"/>
          <p:cNvSpPr txBox="1"/>
          <p:nvPr/>
        </p:nvSpPr>
        <p:spPr>
          <a:xfrm>
            <a:off x="5340096" y="4626864"/>
            <a:ext cx="1357884" cy="10972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050" dirty="0">
                <a:solidFill>
                  <a:srgbClr val="63637E"/>
                </a:solidFill>
                <a:latin typeface="Calibri"/>
                <a:ea typeface="Calibri"/>
                <a:cs typeface="Calibri"/>
                <a:sym typeface="Calibri"/>
              </a:rPr>
              <a:t>City BOM → PNQ, state </a:t>
            </a:r>
            <a:r>
              <a:rPr lang="en-US" sz="1050" b="1" dirty="0">
                <a:solidFill>
                  <a:srgbClr val="14142B"/>
                </a:solidFill>
                <a:latin typeface="Calibri"/>
                <a:ea typeface="Calibri"/>
                <a:cs typeface="Calibri"/>
                <a:sym typeface="Calibri"/>
              </a:rPr>
              <a:t>v7</a:t>
            </a:r>
            <a:r>
              <a:rPr lang="en-US" sz="1050" dirty="0">
                <a:solidFill>
                  <a:srgbClr val="63637E"/>
                </a:solidFill>
                <a:latin typeface="Calibri"/>
                <a:ea typeface="Calibri"/>
                <a:cs typeface="Calibri"/>
                <a:sym typeface="Calibri"/>
              </a:rPr>
              <a:t>. </a:t>
            </a:r>
            <a:endParaRPr lang="en-US" sz="1050" dirty="0"/>
          </a:p>
          <a:p>
            <a:pPr marL="0" indent="0" algn="l">
              <a:lnSpc>
                <a:spcPct val="100000"/>
              </a:lnSpc>
              <a:spcBef>
                <a:spcPts val="0"/>
              </a:spcBef>
              <a:spcAft>
                <a:spcPts val="0"/>
              </a:spcAft>
              <a:buNone/>
            </a:pPr>
            <a:r>
              <a:rPr lang="en-US" sz="1050" b="1" dirty="0">
                <a:solidFill>
                  <a:srgbClr val="14142B"/>
                </a:solidFill>
                <a:latin typeface="Calibri"/>
                <a:ea typeface="Calibri"/>
                <a:cs typeface="Calibri"/>
                <a:sym typeface="Calibri"/>
              </a:rPr>
              <a:t>bk-7</a:t>
            </a:r>
            <a:r>
              <a:rPr lang="en-US" sz="1050" dirty="0">
                <a:solidFill>
                  <a:srgbClr val="63637E"/>
                </a:solidFill>
                <a:latin typeface="Calibri"/>
                <a:ea typeface="Calibri"/>
                <a:cs typeface="Calibri"/>
                <a:sym typeface="Calibri"/>
              </a:rPr>
              <a:t> cancelled, </a:t>
            </a:r>
            <a:r>
              <a:rPr lang="en-US" sz="1050" b="1" dirty="0">
                <a:solidFill>
                  <a:srgbClr val="14142B"/>
                </a:solidFill>
                <a:latin typeface="Calibri"/>
                <a:ea typeface="Calibri"/>
                <a:cs typeface="Calibri"/>
                <a:sym typeface="Calibri"/>
              </a:rPr>
              <a:t>bk-8</a:t>
            </a:r>
            <a:r>
              <a:rPr lang="en-US" sz="1050" dirty="0">
                <a:solidFill>
                  <a:srgbClr val="63637E"/>
                </a:solidFill>
                <a:latin typeface="Calibri"/>
                <a:ea typeface="Calibri"/>
                <a:cs typeface="Calibri"/>
                <a:sym typeface="Calibri"/>
              </a:rPr>
              <a:t> sent.</a:t>
            </a:r>
            <a:endParaRPr lang="en-US" sz="1050" dirty="0"/>
          </a:p>
        </p:txBody>
      </p:sp>
      <p:sp>
        <p:nvSpPr>
          <p:cNvPr id="335" name="Shape 335"/>
          <p:cNvSpPr txBox="1"/>
          <p:nvPr/>
        </p:nvSpPr>
        <p:spPr>
          <a:xfrm>
            <a:off x="6844284" y="4626864"/>
            <a:ext cx="1357884" cy="10972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050" dirty="0">
                <a:solidFill>
                  <a:srgbClr val="63637E"/>
                </a:solidFill>
                <a:latin typeface="Calibri"/>
                <a:ea typeface="Calibri"/>
                <a:cs typeface="Calibri"/>
                <a:sym typeface="Calibri"/>
              </a:rPr>
              <a:t>Gate finds no receipt for </a:t>
            </a:r>
            <a:r>
              <a:rPr lang="en-US" sz="1050" b="1" dirty="0">
                <a:solidFill>
                  <a:srgbClr val="14142B"/>
                </a:solidFill>
                <a:latin typeface="Calibri"/>
                <a:ea typeface="Calibri"/>
                <a:cs typeface="Calibri"/>
                <a:sym typeface="Calibri"/>
              </a:rPr>
              <a:t>bk-8</a:t>
            </a:r>
            <a:r>
              <a:rPr lang="en-US" sz="1050" dirty="0">
                <a:solidFill>
                  <a:srgbClr val="63637E"/>
                </a:solidFill>
                <a:latin typeface="Calibri"/>
                <a:ea typeface="Calibri"/>
                <a:cs typeface="Calibri"/>
                <a:sym typeface="Calibri"/>
              </a:rPr>
              <a:t> yet.</a:t>
            </a:r>
            <a:endParaRPr lang="en-US" sz="1050" dirty="0"/>
          </a:p>
        </p:txBody>
      </p:sp>
      <p:sp>
        <p:nvSpPr>
          <p:cNvPr id="336" name="Shape 336"/>
          <p:cNvSpPr txBox="1"/>
          <p:nvPr/>
        </p:nvSpPr>
        <p:spPr>
          <a:xfrm>
            <a:off x="8348472" y="4626864"/>
            <a:ext cx="1357884" cy="10972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050" b="1" dirty="0">
                <a:solidFill>
                  <a:srgbClr val="14142B"/>
                </a:solidFill>
                <a:latin typeface="Calibri"/>
                <a:ea typeface="Calibri"/>
                <a:cs typeface="Calibri"/>
                <a:sym typeface="Calibri"/>
              </a:rPr>
              <a:t>bk-8</a:t>
            </a:r>
            <a:r>
              <a:rPr lang="en-US" sz="1050" dirty="0">
                <a:solidFill>
                  <a:srgbClr val="63637E"/>
                </a:solidFill>
                <a:latin typeface="Calibri"/>
                <a:ea typeface="Calibri"/>
                <a:cs typeface="Calibri"/>
                <a:sym typeface="Calibri"/>
              </a:rPr>
              <a:t> timed out (injected). Retried with the same call_id.</a:t>
            </a:r>
            <a:endParaRPr lang="en-US" sz="1050" dirty="0"/>
          </a:p>
        </p:txBody>
      </p:sp>
      <p:sp>
        <p:nvSpPr>
          <p:cNvPr id="337" name="Shape 337"/>
          <p:cNvSpPr txBox="1"/>
          <p:nvPr/>
        </p:nvSpPr>
        <p:spPr>
          <a:xfrm>
            <a:off x="9852660" y="4626864"/>
            <a:ext cx="1357884" cy="10972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050" dirty="0">
                <a:solidFill>
                  <a:srgbClr val="63637E"/>
                </a:solidFill>
                <a:latin typeface="Calibri"/>
                <a:ea typeface="Calibri"/>
                <a:cs typeface="Calibri"/>
                <a:sym typeface="Calibri"/>
              </a:rPr>
              <a:t>Receipt for </a:t>
            </a:r>
            <a:r>
              <a:rPr lang="en-US" sz="1050" b="1" dirty="0">
                <a:solidFill>
                  <a:srgbClr val="14142B"/>
                </a:solidFill>
                <a:latin typeface="Calibri"/>
                <a:ea typeface="Calibri"/>
                <a:cs typeface="Calibri"/>
                <a:sym typeface="Calibri"/>
              </a:rPr>
              <a:t>bk-8</a:t>
            </a:r>
            <a:r>
              <a:rPr lang="en-US" sz="1050" dirty="0">
                <a:solidFill>
                  <a:srgbClr val="63637E"/>
                </a:solidFill>
                <a:latin typeface="Calibri"/>
                <a:ea typeface="Calibri"/>
                <a:cs typeface="Calibri"/>
                <a:sym typeface="Calibri"/>
              </a:rPr>
              <a:t>: success. Final answer and state snapshot sent.</a:t>
            </a:r>
            <a:endParaRPr lang="en-US" sz="1050" dirty="0"/>
          </a:p>
        </p:txBody>
      </p:sp>
      <p:sp>
        <p:nvSpPr>
          <p:cNvPr id="338" name="Shape 338"/>
          <p:cNvSpPr txBox="1"/>
          <p:nvPr/>
        </p:nvSpPr>
        <p:spPr>
          <a:xfrm>
            <a:off x="932688" y="5870448"/>
            <a:ext cx="1033272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200" b="1" dirty="0">
                <a:solidFill>
                  <a:srgbClr val="14142B"/>
                </a:solidFill>
                <a:latin typeface="Calibri"/>
                <a:ea typeface="Calibri"/>
                <a:cs typeface="Calibri"/>
                <a:sym typeface="Calibri"/>
              </a:rPr>
              <a:t>What to notice: </a:t>
            </a:r>
            <a:r>
              <a:rPr lang="en-US" sz="1200" dirty="0">
                <a:solidFill>
                  <a:srgbClr val="63637E"/>
                </a:solidFill>
                <a:latin typeface="Calibri"/>
                <a:ea typeface="Calibri"/>
                <a:cs typeface="Calibri"/>
                <a:sym typeface="Calibri"/>
              </a:rPr>
              <a:t>nothing says “booked” before the receipt, the Mumbai call is cancelled the moment the city changes, and the timeout is said out loud instead of hidden.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Tools and tech stack used</a:t>
            </a:r>
            <a:endParaRPr b="1">
              <a:solidFill>
                <a:srgbClr val="704EA6"/>
              </a:solidFill>
            </a:endParaRPr>
          </a:p>
        </p:txBody>
      </p:sp>
      <p:sp>
        <p:nvSpPr>
          <p:cNvPr id="301" name="Layer What the user hears"/>
          <p:cNvSpPr/>
          <p:nvPr/>
        </p:nvSpPr>
        <p:spPr>
          <a:xfrm>
            <a:off x="932688" y="1783080"/>
            <a:ext cx="5760720" cy="749808"/>
          </a:xfrm>
          <a:prstGeom prst="roundRect">
            <a:avLst>
              <a:gd name="adj" fmla="val 12000"/>
            </a:avLst>
          </a:prstGeom>
          <a:solidFill>
            <a:srgbClr val="F5F3FF"/>
          </a:solidFill>
          <a:ln>
            <a:noFill/>
          </a:ln>
        </p:spPr>
        <p:txBody>
          <a:bodyPr wrap="square" lIns="0" tIns="0" rIns="0" bIns="0" rtlCol="0" anchor="t">
            <a:noAutofit/>
          </a:bodyPr>
          <a:lstStyle/>
          <a:p>
            <a:endParaRPr lang="en-US" dirty="0"/>
          </a:p>
        </p:txBody>
      </p:sp>
      <p:sp>
        <p:nvSpPr>
          <p:cNvPr id="302" name="Shape 302"/>
          <p:cNvSpPr txBox="1"/>
          <p:nvPr/>
        </p:nvSpPr>
        <p:spPr>
          <a:xfrm>
            <a:off x="1115568" y="1783080"/>
            <a:ext cx="1691640" cy="749808"/>
          </a:xfrm>
          <a:prstGeom prst="rect">
            <a:avLst/>
          </a:prstGeom>
          <a:noFill/>
          <a:ln>
            <a:noFill/>
          </a:ln>
        </p:spPr>
        <p:txBody>
          <a:bodyPr wrap="square" lIns="0" tIns="0" rIns="0" bIns="0" rtlCol="0" anchor="ctr">
            <a:noAutofit/>
          </a:bodyPr>
          <a:lstStyle/>
          <a:p>
            <a:pPr marL="0" indent="0" algn="l">
              <a:lnSpc>
                <a:spcPct val="95000"/>
              </a:lnSpc>
              <a:spcBef>
                <a:spcPts val="0"/>
              </a:spcBef>
              <a:spcAft>
                <a:spcPts val="0"/>
              </a:spcAft>
              <a:buNone/>
            </a:pPr>
            <a:r>
              <a:rPr lang="en-US" sz="1400" b="1" dirty="0">
                <a:solidFill>
                  <a:srgbClr val="14142B"/>
                </a:solidFill>
                <a:latin typeface="Calibri"/>
                <a:ea typeface="Calibri"/>
                <a:cs typeface="Calibri"/>
                <a:sym typeface="Calibri"/>
              </a:rPr>
              <a:t>What the user hears</a:t>
            </a:r>
            <a:endParaRPr lang="en-US" sz="1400" dirty="0"/>
          </a:p>
        </p:txBody>
      </p:sp>
      <p:sp>
        <p:nvSpPr>
          <p:cNvPr id="303" name="Shape 303"/>
          <p:cNvSpPr txBox="1"/>
          <p:nvPr/>
        </p:nvSpPr>
        <p:spPr>
          <a:xfrm>
            <a:off x="2852928" y="1783080"/>
            <a:ext cx="3703320" cy="74980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50" dirty="0">
                <a:solidFill>
                  <a:srgbClr val="63637E"/>
                </a:solidFill>
                <a:latin typeface="Calibri"/>
                <a:ea typeface="Calibri"/>
                <a:cs typeface="Calibri"/>
                <a:sym typeface="Calibri"/>
              </a:rPr>
              <a:t>Jinja2 phrase templates, filled from live slots</a:t>
            </a:r>
            <a:endParaRPr lang="en-US" sz="1250" dirty="0"/>
          </a:p>
        </p:txBody>
      </p:sp>
      <p:sp>
        <p:nvSpPr>
          <p:cNvPr id="304" name="Layer The gate"/>
          <p:cNvSpPr/>
          <p:nvPr/>
        </p:nvSpPr>
        <p:spPr>
          <a:xfrm>
            <a:off x="932688" y="2660904"/>
            <a:ext cx="5760720" cy="749808"/>
          </a:xfrm>
          <a:prstGeom prst="roundRect">
            <a:avLst>
              <a:gd name="adj" fmla="val 12000"/>
            </a:avLst>
          </a:prstGeom>
          <a:solidFill>
            <a:srgbClr val="6D28D9"/>
          </a:solidFill>
          <a:ln>
            <a:noFill/>
          </a:ln>
        </p:spPr>
        <p:txBody>
          <a:bodyPr wrap="square" lIns="0" tIns="0" rIns="0" bIns="0" rtlCol="0" anchor="t">
            <a:noAutofit/>
          </a:bodyPr>
          <a:lstStyle/>
          <a:p>
            <a:endParaRPr lang="en-US" dirty="0"/>
          </a:p>
        </p:txBody>
      </p:sp>
      <p:sp>
        <p:nvSpPr>
          <p:cNvPr id="305" name="Shape 305"/>
          <p:cNvSpPr txBox="1"/>
          <p:nvPr/>
        </p:nvSpPr>
        <p:spPr>
          <a:xfrm>
            <a:off x="1115568" y="2660904"/>
            <a:ext cx="1691640" cy="749808"/>
          </a:xfrm>
          <a:prstGeom prst="rect">
            <a:avLst/>
          </a:prstGeom>
          <a:noFill/>
          <a:ln>
            <a:noFill/>
          </a:ln>
        </p:spPr>
        <p:txBody>
          <a:bodyPr wrap="square" lIns="0" tIns="0" rIns="0" bIns="0" rtlCol="0" anchor="ctr">
            <a:noAutofit/>
          </a:bodyPr>
          <a:lstStyle/>
          <a:p>
            <a:pPr marL="0" indent="0" algn="l">
              <a:lnSpc>
                <a:spcPct val="95000"/>
              </a:lnSpc>
              <a:spcBef>
                <a:spcPts val="0"/>
              </a:spcBef>
              <a:spcAft>
                <a:spcPts val="0"/>
              </a:spcAft>
              <a:buNone/>
            </a:pPr>
            <a:r>
              <a:rPr lang="en-US" sz="1400" b="1" dirty="0">
                <a:solidFill>
                  <a:srgbClr val="FFFFFF"/>
                </a:solidFill>
                <a:latin typeface="Calibri"/>
                <a:ea typeface="Calibri"/>
                <a:cs typeface="Calibri"/>
                <a:sym typeface="Calibri"/>
              </a:rPr>
              <a:t>The gate</a:t>
            </a:r>
            <a:endParaRPr lang="en-US" sz="1400" dirty="0"/>
          </a:p>
        </p:txBody>
      </p:sp>
      <p:sp>
        <p:nvSpPr>
          <p:cNvPr id="306" name="Shape 306"/>
          <p:cNvSpPr txBox="1"/>
          <p:nvPr/>
        </p:nvSpPr>
        <p:spPr>
          <a:xfrm>
            <a:off x="2852928" y="2660904"/>
            <a:ext cx="3703320" cy="74980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50" dirty="0">
                <a:solidFill>
                  <a:srgbClr val="E4DDFB"/>
                </a:solidFill>
                <a:latin typeface="Calibri"/>
                <a:ea typeface="Calibri"/>
                <a:cs typeface="Calibri"/>
                <a:sym typeface="Calibri"/>
              </a:rPr>
              <a:t>spaCy plus a verb list compiled from each tool manifest, and the receipt ledger (in memory, per session)</a:t>
            </a:r>
            <a:endParaRPr lang="en-US" sz="1250" dirty="0"/>
          </a:p>
        </p:txBody>
      </p:sp>
      <p:sp>
        <p:nvSpPr>
          <p:cNvPr id="307" name="Layer Thinking"/>
          <p:cNvSpPr/>
          <p:nvPr/>
        </p:nvSpPr>
        <p:spPr>
          <a:xfrm>
            <a:off x="932688" y="3538728"/>
            <a:ext cx="5760720" cy="749808"/>
          </a:xfrm>
          <a:prstGeom prst="roundRect">
            <a:avLst>
              <a:gd name="adj" fmla="val 12000"/>
            </a:avLst>
          </a:prstGeom>
          <a:solidFill>
            <a:srgbClr val="F5F3FF"/>
          </a:solidFill>
          <a:ln>
            <a:noFill/>
          </a:ln>
        </p:spPr>
        <p:txBody>
          <a:bodyPr wrap="square" lIns="0" tIns="0" rIns="0" bIns="0" rtlCol="0" anchor="t">
            <a:noAutofit/>
          </a:bodyPr>
          <a:lstStyle/>
          <a:p>
            <a:endParaRPr lang="en-US" dirty="0"/>
          </a:p>
        </p:txBody>
      </p:sp>
      <p:sp>
        <p:nvSpPr>
          <p:cNvPr id="308" name="Shape 308"/>
          <p:cNvSpPr txBox="1"/>
          <p:nvPr/>
        </p:nvSpPr>
        <p:spPr>
          <a:xfrm>
            <a:off x="1115568" y="3538728"/>
            <a:ext cx="1691640" cy="749808"/>
          </a:xfrm>
          <a:prstGeom prst="rect">
            <a:avLst/>
          </a:prstGeom>
          <a:noFill/>
          <a:ln>
            <a:noFill/>
          </a:ln>
        </p:spPr>
        <p:txBody>
          <a:bodyPr wrap="square" lIns="0" tIns="0" rIns="0" bIns="0" rtlCol="0" anchor="ctr">
            <a:noAutofit/>
          </a:bodyPr>
          <a:lstStyle/>
          <a:p>
            <a:pPr marL="0" indent="0" algn="l">
              <a:lnSpc>
                <a:spcPct val="95000"/>
              </a:lnSpc>
              <a:spcBef>
                <a:spcPts val="0"/>
              </a:spcBef>
              <a:spcAft>
                <a:spcPts val="0"/>
              </a:spcAft>
              <a:buNone/>
            </a:pPr>
            <a:r>
              <a:rPr lang="en-US" sz="1400" b="1" dirty="0">
                <a:solidFill>
                  <a:srgbClr val="14142B"/>
                </a:solidFill>
                <a:latin typeface="Calibri"/>
                <a:ea typeface="Calibri"/>
                <a:cs typeface="Calibri"/>
                <a:sym typeface="Calibri"/>
              </a:rPr>
              <a:t>Thinking</a:t>
            </a:r>
            <a:endParaRPr lang="en-US" sz="1400" dirty="0"/>
          </a:p>
        </p:txBody>
      </p:sp>
      <p:sp>
        <p:nvSpPr>
          <p:cNvPr id="309" name="Shape 309"/>
          <p:cNvSpPr txBox="1"/>
          <p:nvPr/>
        </p:nvSpPr>
        <p:spPr>
          <a:xfrm>
            <a:off x="2852928" y="3538728"/>
            <a:ext cx="3703320" cy="74980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50" dirty="0">
                <a:solidFill>
                  <a:srgbClr val="63637E"/>
                </a:solidFill>
                <a:latin typeface="Calibri"/>
                <a:ea typeface="Calibri"/>
                <a:cs typeface="Calibri"/>
                <a:sym typeface="Calibri"/>
              </a:rPr>
              <a:t>An LLM planner with function calling. Hosted or local, depending on the kit’s network rules.</a:t>
            </a:r>
            <a:endParaRPr lang="en-US" sz="1250" dirty="0"/>
          </a:p>
        </p:txBody>
      </p:sp>
      <p:sp>
        <p:nvSpPr>
          <p:cNvPr id="310" name="Layer Hearing and seeing"/>
          <p:cNvSpPr/>
          <p:nvPr/>
        </p:nvSpPr>
        <p:spPr>
          <a:xfrm>
            <a:off x="932688" y="4416552"/>
            <a:ext cx="5760720" cy="749808"/>
          </a:xfrm>
          <a:prstGeom prst="roundRect">
            <a:avLst>
              <a:gd name="adj" fmla="val 12000"/>
            </a:avLst>
          </a:prstGeom>
          <a:solidFill>
            <a:srgbClr val="F5F3FF"/>
          </a:solidFill>
          <a:ln>
            <a:noFill/>
          </a:ln>
        </p:spPr>
        <p:txBody>
          <a:bodyPr wrap="square" lIns="0" tIns="0" rIns="0" bIns="0" rtlCol="0" anchor="t">
            <a:noAutofit/>
          </a:bodyPr>
          <a:lstStyle/>
          <a:p>
            <a:endParaRPr lang="en-US" dirty="0"/>
          </a:p>
        </p:txBody>
      </p:sp>
      <p:sp>
        <p:nvSpPr>
          <p:cNvPr id="311" name="Shape 311"/>
          <p:cNvSpPr txBox="1"/>
          <p:nvPr/>
        </p:nvSpPr>
        <p:spPr>
          <a:xfrm>
            <a:off x="1115568" y="4416552"/>
            <a:ext cx="1691640" cy="749808"/>
          </a:xfrm>
          <a:prstGeom prst="rect">
            <a:avLst/>
          </a:prstGeom>
          <a:noFill/>
          <a:ln>
            <a:noFill/>
          </a:ln>
        </p:spPr>
        <p:txBody>
          <a:bodyPr wrap="square" lIns="0" tIns="0" rIns="0" bIns="0" rtlCol="0" anchor="ctr">
            <a:noAutofit/>
          </a:bodyPr>
          <a:lstStyle/>
          <a:p>
            <a:pPr marL="0" indent="0" algn="l">
              <a:lnSpc>
                <a:spcPct val="95000"/>
              </a:lnSpc>
              <a:spcBef>
                <a:spcPts val="0"/>
              </a:spcBef>
              <a:spcAft>
                <a:spcPts val="0"/>
              </a:spcAft>
              <a:buNone/>
            </a:pPr>
            <a:r>
              <a:rPr lang="en-US" sz="1400" b="1" dirty="0">
                <a:solidFill>
                  <a:srgbClr val="14142B"/>
                </a:solidFill>
                <a:latin typeface="Calibri"/>
                <a:ea typeface="Calibri"/>
                <a:cs typeface="Calibri"/>
                <a:sym typeface="Calibri"/>
              </a:rPr>
              <a:t>Hearing and seeing</a:t>
            </a:r>
            <a:endParaRPr lang="en-US" sz="1400" dirty="0"/>
          </a:p>
        </p:txBody>
      </p:sp>
      <p:sp>
        <p:nvSpPr>
          <p:cNvPr id="312" name="Shape 312"/>
          <p:cNvSpPr txBox="1"/>
          <p:nvPr/>
        </p:nvSpPr>
        <p:spPr>
          <a:xfrm>
            <a:off x="2852928" y="4416552"/>
            <a:ext cx="3703320" cy="74980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50" dirty="0">
                <a:solidFill>
                  <a:srgbClr val="63637E"/>
                </a:solidFill>
                <a:latin typeface="Calibri"/>
                <a:ea typeface="Calibri"/>
                <a:cs typeface="Calibri"/>
                <a:sym typeface="Calibri"/>
              </a:rPr>
              <a:t>faster-whisper with word timestamps; OCR and a small vision model for camera frames</a:t>
            </a:r>
            <a:endParaRPr lang="en-US" sz="1250" dirty="0"/>
          </a:p>
        </p:txBody>
      </p:sp>
      <p:sp>
        <p:nvSpPr>
          <p:cNvPr id="313" name="Layer Plumbing"/>
          <p:cNvSpPr/>
          <p:nvPr/>
        </p:nvSpPr>
        <p:spPr>
          <a:xfrm>
            <a:off x="932688" y="5294376"/>
            <a:ext cx="5760720" cy="749808"/>
          </a:xfrm>
          <a:prstGeom prst="roundRect">
            <a:avLst>
              <a:gd name="adj" fmla="val 12000"/>
            </a:avLst>
          </a:prstGeom>
          <a:solidFill>
            <a:srgbClr val="F5F3FF"/>
          </a:solidFill>
          <a:ln>
            <a:noFill/>
          </a:ln>
        </p:spPr>
        <p:txBody>
          <a:bodyPr wrap="square" lIns="0" tIns="0" rIns="0" bIns="0" rtlCol="0" anchor="t">
            <a:noAutofit/>
          </a:bodyPr>
          <a:lstStyle/>
          <a:p>
            <a:endParaRPr lang="en-US" dirty="0"/>
          </a:p>
        </p:txBody>
      </p:sp>
      <p:sp>
        <p:nvSpPr>
          <p:cNvPr id="314" name="Shape 314"/>
          <p:cNvSpPr txBox="1"/>
          <p:nvPr/>
        </p:nvSpPr>
        <p:spPr>
          <a:xfrm>
            <a:off x="1115568" y="5294376"/>
            <a:ext cx="1691640" cy="749808"/>
          </a:xfrm>
          <a:prstGeom prst="rect">
            <a:avLst/>
          </a:prstGeom>
          <a:noFill/>
          <a:ln>
            <a:noFill/>
          </a:ln>
        </p:spPr>
        <p:txBody>
          <a:bodyPr wrap="square" lIns="0" tIns="0" rIns="0" bIns="0" rtlCol="0" anchor="ctr">
            <a:noAutofit/>
          </a:bodyPr>
          <a:lstStyle/>
          <a:p>
            <a:pPr marL="0" indent="0" algn="l">
              <a:lnSpc>
                <a:spcPct val="95000"/>
              </a:lnSpc>
              <a:spcBef>
                <a:spcPts val="0"/>
              </a:spcBef>
              <a:spcAft>
                <a:spcPts val="0"/>
              </a:spcAft>
              <a:buNone/>
            </a:pPr>
            <a:r>
              <a:rPr lang="en-US" sz="1400" b="1" dirty="0">
                <a:solidFill>
                  <a:srgbClr val="14142B"/>
                </a:solidFill>
                <a:latin typeface="Calibri"/>
                <a:ea typeface="Calibri"/>
                <a:cs typeface="Calibri"/>
                <a:sym typeface="Calibri"/>
              </a:rPr>
              <a:t>Plumbing</a:t>
            </a:r>
            <a:endParaRPr lang="en-US" sz="1400" dirty="0"/>
          </a:p>
        </p:txBody>
      </p:sp>
      <p:sp>
        <p:nvSpPr>
          <p:cNvPr id="315" name="Shape 315"/>
          <p:cNvSpPr txBox="1"/>
          <p:nvPr/>
        </p:nvSpPr>
        <p:spPr>
          <a:xfrm>
            <a:off x="2852928" y="5294376"/>
            <a:ext cx="3703320" cy="74980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50" dirty="0">
                <a:solidFill>
                  <a:srgbClr val="63637E"/>
                </a:solidFill>
                <a:latin typeface="Calibri"/>
                <a:ea typeface="Calibri"/>
                <a:cs typeface="Calibri"/>
                <a:sym typeface="Calibri"/>
              </a:rPr>
              <a:t>Python 3.11, asyncio TaskGroup and queues, Pydantic v2 for every action</a:t>
            </a:r>
            <a:endParaRPr lang="en-US" sz="1250" dirty="0"/>
          </a:p>
        </p:txBody>
      </p:sp>
      <p:sp>
        <p:nvSpPr>
          <p:cNvPr id="316" name="Shape 316"/>
          <p:cNvSpPr txBox="1"/>
          <p:nvPr/>
        </p:nvSpPr>
        <p:spPr>
          <a:xfrm>
            <a:off x="7086600" y="1783080"/>
            <a:ext cx="4178808"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500" b="1" dirty="0">
                <a:solidFill>
                  <a:srgbClr val="14142B"/>
                </a:solidFill>
                <a:latin typeface="Calibri"/>
                <a:ea typeface="Calibri"/>
                <a:cs typeface="Calibri"/>
                <a:sym typeface="Calibri"/>
              </a:rPr>
              <a:t>Why these, and not something fancier</a:t>
            </a:r>
            <a:endParaRPr lang="en-US" sz="1500" dirty="0"/>
          </a:p>
        </p:txBody>
      </p:sp>
      <p:sp>
        <p:nvSpPr>
          <p:cNvPr id="317" name="Shape 317"/>
          <p:cNvSpPr txBox="1"/>
          <p:nvPr/>
        </p:nvSpPr>
        <p:spPr>
          <a:xfrm>
            <a:off x="7086600" y="2240280"/>
            <a:ext cx="4178808" cy="2514600"/>
          </a:xfrm>
          <a:prstGeom prst="rect">
            <a:avLst/>
          </a:prstGeom>
          <a:noFill/>
          <a:ln>
            <a:noFill/>
          </a:ln>
        </p:spPr>
        <p:txBody>
          <a:bodyPr wrap="square" lIns="0" tIns="0" rIns="0" bIns="0" rtlCol="0" anchor="t">
            <a:noAutofit/>
          </a:bodyPr>
          <a:lstStyle/>
          <a:p>
            <a:pPr marL="0" indent="0" algn="l">
              <a:lnSpc>
                <a:spcPct val="105000"/>
              </a:lnSpc>
              <a:spcBef>
                <a:spcPts val="0"/>
              </a:spcBef>
              <a:spcAft>
                <a:spcPts val="1300"/>
              </a:spcAft>
              <a:buNone/>
            </a:pPr>
            <a:r>
              <a:rPr lang="en-US" sz="1250" b="1" dirty="0">
                <a:solidFill>
                  <a:srgbClr val="14142B"/>
                </a:solidFill>
                <a:latin typeface="Calibri"/>
                <a:ea typeface="Calibri"/>
                <a:cs typeface="Calibri"/>
                <a:sym typeface="Calibri"/>
              </a:rPr>
              <a:t>3.11 on purpose. </a:t>
            </a:r>
            <a:r>
              <a:rPr lang="en-US" sz="1250" dirty="0">
                <a:solidFill>
                  <a:srgbClr val="63637E"/>
                </a:solidFill>
                <a:latin typeface="Calibri"/>
                <a:ea typeface="Calibri"/>
                <a:cs typeface="Calibri"/>
                <a:sym typeface="Calibri"/>
              </a:rPr>
              <a:t>TaskGroup needs 3.11 and the kit allows 3.10 to 3.12. Cancelling a tool call has to be boring and reliable.</a:t>
            </a:r>
            <a:endParaRPr lang="en-US" sz="1250" dirty="0"/>
          </a:p>
          <a:p>
            <a:pPr marL="0" indent="0" algn="l">
              <a:lnSpc>
                <a:spcPct val="105000"/>
              </a:lnSpc>
              <a:spcBef>
                <a:spcPts val="0"/>
              </a:spcBef>
              <a:spcAft>
                <a:spcPts val="1300"/>
              </a:spcAft>
              <a:buNone/>
            </a:pPr>
            <a:r>
              <a:rPr lang="en-US" sz="1250" b="1" dirty="0">
                <a:solidFill>
                  <a:srgbClr val="14142B"/>
                </a:solidFill>
                <a:latin typeface="Calibri"/>
                <a:ea typeface="Calibri"/>
                <a:cs typeface="Calibri"/>
                <a:sym typeface="Calibri"/>
              </a:rPr>
              <a:t>No LLM inside the gate. </a:t>
            </a:r>
            <a:r>
              <a:rPr lang="en-US" sz="1250" dirty="0">
                <a:solidFill>
                  <a:srgbClr val="63637E"/>
                </a:solidFill>
                <a:latin typeface="Calibri"/>
                <a:ea typeface="Calibri"/>
                <a:cs typeface="Calibri"/>
                <a:sym typeface="Calibri"/>
              </a:rPr>
              <a:t>Checking a sentence has to take milliseconds, so it’s a parser and a word list, not another model call.</a:t>
            </a:r>
            <a:endParaRPr lang="en-US" sz="1250" dirty="0"/>
          </a:p>
          <a:p>
            <a:pPr marL="0" indent="0" algn="l">
              <a:lnSpc>
                <a:spcPct val="105000"/>
              </a:lnSpc>
              <a:spcBef>
                <a:spcPts val="0"/>
              </a:spcBef>
              <a:spcAft>
                <a:spcPts val="1300"/>
              </a:spcAft>
              <a:buNone/>
            </a:pPr>
            <a:r>
              <a:rPr lang="en-US" sz="1250" b="1" dirty="0">
                <a:solidFill>
                  <a:srgbClr val="14142B"/>
                </a:solidFill>
                <a:latin typeface="Calibri"/>
                <a:ea typeface="Calibri"/>
                <a:cs typeface="Calibri"/>
                <a:sym typeface="Calibri"/>
              </a:rPr>
              <a:t>Pydantic on every action. </a:t>
            </a:r>
            <a:r>
              <a:rPr lang="en-US" sz="1250" dirty="0">
                <a:solidFill>
                  <a:srgbClr val="63637E"/>
                </a:solidFill>
                <a:latin typeface="Calibri"/>
                <a:ea typeface="Calibri"/>
                <a:cs typeface="Calibri"/>
                <a:sym typeface="Calibri"/>
              </a:rPr>
              <a:t>If a payload is malformed, our tests fail before the grader ever sees it.</a:t>
            </a:r>
            <a:endParaRPr lang="en-US" sz="1250" dirty="0"/>
          </a:p>
          <a:p>
            <a:pPr marL="0" indent="0" algn="l">
              <a:lnSpc>
                <a:spcPct val="105000"/>
              </a:lnSpc>
              <a:spcBef>
                <a:spcPts val="0"/>
              </a:spcBef>
              <a:spcAft>
                <a:spcPts val="1300"/>
              </a:spcAft>
              <a:buNone/>
            </a:pPr>
            <a:r>
              <a:rPr lang="en-US" sz="1250" b="1" dirty="0">
                <a:solidFill>
                  <a:srgbClr val="14142B"/>
                </a:solidFill>
                <a:latin typeface="Calibri"/>
                <a:ea typeface="Calibri"/>
                <a:cs typeface="Calibri"/>
                <a:sym typeface="Calibri"/>
              </a:rPr>
              <a:t>pytest and Hypothesis. </a:t>
            </a:r>
            <a:r>
              <a:rPr lang="en-US" sz="1250" dirty="0">
                <a:solidFill>
                  <a:srgbClr val="63637E"/>
                </a:solidFill>
                <a:latin typeface="Calibri"/>
                <a:ea typeface="Calibri"/>
                <a:cs typeface="Calibri"/>
                <a:sym typeface="Calibri"/>
              </a:rPr>
              <a:t>We generate thousands of interrupt timings and assert one property: no receipt, no claim.</a:t>
            </a:r>
            <a:endParaRPr lang="en-US" sz="1250" dirty="0"/>
          </a:p>
        </p:txBody>
      </p:sp>
      <p:sp>
        <p:nvSpPr>
          <p:cNvPr id="318" name="Shape 318"/>
          <p:cNvSpPr txBox="1"/>
          <p:nvPr/>
        </p:nvSpPr>
        <p:spPr>
          <a:xfrm>
            <a:off x="7086600" y="4681728"/>
            <a:ext cx="4178808" cy="256032"/>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1050" i="1" dirty="0">
                <a:solidFill>
                  <a:srgbClr val="63637E"/>
                </a:solidFill>
                <a:latin typeface="Calibri"/>
                <a:ea typeface="Calibri"/>
                <a:cs typeface="Calibri"/>
                <a:sym typeface="Calibri"/>
              </a:rPr>
              <a:t>The core of the gate, simplified</a:t>
            </a:r>
            <a:endParaRPr lang="en-US" sz="1050" dirty="0"/>
          </a:p>
        </p:txBody>
      </p:sp>
      <p:sp>
        <p:nvSpPr>
          <p:cNvPr id="319" name="Gate code"/>
          <p:cNvSpPr/>
          <p:nvPr/>
        </p:nvSpPr>
        <p:spPr>
          <a:xfrm>
            <a:off x="7086600" y="4974336"/>
            <a:ext cx="4178808" cy="1243584"/>
          </a:xfrm>
          <a:prstGeom prst="roundRect">
            <a:avLst>
              <a:gd name="adj" fmla="val 7000"/>
            </a:avLst>
          </a:prstGeom>
          <a:solidFill>
            <a:srgbClr val="F5F3FF"/>
          </a:solidFill>
          <a:ln>
            <a:noFill/>
          </a:ln>
        </p:spPr>
        <p:txBody>
          <a:bodyPr wrap="square" lIns="182880" tIns="73152" rIns="91440" bIns="73152" rtlCol="0" anchor="ctr">
            <a:noAutofit/>
          </a:bodyPr>
          <a:lstStyle/>
          <a:p>
            <a:pPr marL="0" indent="0" algn="l">
              <a:lnSpc>
                <a:spcPct val="100000"/>
              </a:lnSpc>
              <a:spcBef>
                <a:spcPts val="0"/>
              </a:spcBef>
              <a:spcAft>
                <a:spcPts val="0"/>
              </a:spcAft>
              <a:buNone/>
            </a:pPr>
            <a:r>
              <a:rPr lang="en-US" sz="1000" dirty="0">
                <a:solidFill>
                  <a:srgbClr val="14142B"/>
                </a:solidFill>
                <a:latin typeface="Consolas"/>
                <a:ea typeface="Consolas"/>
                <a:cs typeface="Consolas"/>
                <a:sym typeface="Consolas"/>
              </a:rPr>
              <a:t>def speak(line, ledger, state):</a:t>
            </a:r>
            <a:endParaRPr lang="en-US" sz="1000" dirty="0"/>
          </a:p>
          <a:p>
            <a:pPr marL="0" indent="0" algn="l">
              <a:lnSpc>
                <a:spcPct val="100000"/>
              </a:lnSpc>
              <a:spcBef>
                <a:spcPts val="0"/>
              </a:spcBef>
              <a:spcAft>
                <a:spcPts val="0"/>
              </a:spcAft>
              <a:buNone/>
            </a:pPr>
            <a:r>
              <a:rPr lang="en-US" sz="1000" dirty="0">
                <a:solidFill>
                  <a:srgbClr val="14142B"/>
                </a:solidFill>
                <a:latin typeface="Consolas"/>
                <a:ea typeface="Consolas"/>
                <a:cs typeface="Consolas"/>
                <a:sym typeface="Consolas"/>
              </a:rPr>
              <a:t>    for claim in find_claims(line):</a:t>
            </a:r>
            <a:endParaRPr lang="en-US" sz="1000" dirty="0"/>
          </a:p>
          <a:p>
            <a:pPr marL="0" indent="0" algn="l">
              <a:lnSpc>
                <a:spcPct val="100000"/>
              </a:lnSpc>
              <a:spcBef>
                <a:spcPts val="0"/>
              </a:spcBef>
              <a:spcAft>
                <a:spcPts val="0"/>
              </a:spcAft>
              <a:buNone/>
            </a:pPr>
            <a:r>
              <a:rPr lang="en-US" sz="1000" dirty="0">
                <a:solidFill>
                  <a:srgbClr val="14142B"/>
                </a:solidFill>
                <a:latin typeface="Consolas"/>
                <a:ea typeface="Consolas"/>
                <a:cs typeface="Consolas"/>
                <a:sym typeface="Consolas"/>
              </a:rPr>
              <a:t>        r = ledger.get(claim.call_id)</a:t>
            </a:r>
            <a:endParaRPr lang="en-US" sz="1000" dirty="0"/>
          </a:p>
          <a:p>
            <a:pPr marL="0" indent="0" algn="l">
              <a:lnSpc>
                <a:spcPct val="100000"/>
              </a:lnSpc>
              <a:spcBef>
                <a:spcPts val="0"/>
              </a:spcBef>
              <a:spcAft>
                <a:spcPts val="0"/>
              </a:spcAft>
              <a:buNone/>
            </a:pPr>
            <a:r>
              <a:rPr lang="en-US" sz="1000" dirty="0">
                <a:solidFill>
                  <a:srgbClr val="14142B"/>
                </a:solidFill>
                <a:latin typeface="Consolas"/>
                <a:ea typeface="Consolas"/>
                <a:cs typeface="Consolas"/>
                <a:sym typeface="Consolas"/>
              </a:rPr>
              <a:t>        ok = r and r.status == "success"</a:t>
            </a:r>
            <a:endParaRPr lang="en-US" sz="1000" dirty="0"/>
          </a:p>
          <a:p>
            <a:pPr marL="0" indent="0" algn="l">
              <a:lnSpc>
                <a:spcPct val="100000"/>
              </a:lnSpc>
              <a:spcBef>
                <a:spcPts val="0"/>
              </a:spcBef>
              <a:spcAft>
                <a:spcPts val="0"/>
              </a:spcAft>
              <a:buNone/>
            </a:pPr>
            <a:r>
              <a:rPr lang="en-US" sz="1000" dirty="0">
                <a:solidFill>
                  <a:srgbClr val="14142B"/>
                </a:solidFill>
                <a:latin typeface="Consolas"/>
                <a:ea typeface="Consolas"/>
                <a:cs typeface="Consolas"/>
                <a:sym typeface="Consolas"/>
              </a:rPr>
              <a:t>        if not ok or r.version != state.version:</a:t>
            </a:r>
            <a:endParaRPr lang="en-US" sz="1000" dirty="0"/>
          </a:p>
          <a:p>
            <a:pPr marL="0" indent="0" algn="l">
              <a:lnSpc>
                <a:spcPct val="100000"/>
              </a:lnSpc>
              <a:spcBef>
                <a:spcPts val="0"/>
              </a:spcBef>
              <a:spcAft>
                <a:spcPts val="0"/>
              </a:spcAft>
              <a:buNone/>
            </a:pPr>
            <a:r>
              <a:rPr lang="en-US" sz="1000" dirty="0">
                <a:solidFill>
                  <a:srgbClr val="14142B"/>
                </a:solidFill>
                <a:latin typeface="Consolas"/>
                <a:ea typeface="Consolas"/>
                <a:cs typeface="Consolas"/>
                <a:sym typeface="Consolas"/>
              </a:rPr>
              <a:t>            return as_progress(line)</a:t>
            </a:r>
            <a:endParaRPr lang="en-US" sz="1000" dirty="0"/>
          </a:p>
          <a:p>
            <a:pPr marL="0" indent="0" algn="l">
              <a:lnSpc>
                <a:spcPct val="100000"/>
              </a:lnSpc>
              <a:spcBef>
                <a:spcPts val="0"/>
              </a:spcBef>
              <a:spcAft>
                <a:spcPts val="0"/>
              </a:spcAft>
              <a:buNone/>
            </a:pPr>
            <a:r>
              <a:rPr lang="en-US" sz="1000" dirty="0">
                <a:solidFill>
                  <a:srgbClr val="14142B"/>
                </a:solidFill>
                <a:latin typeface="Consolas"/>
                <a:ea typeface="Consolas"/>
                <a:cs typeface="Consolas"/>
                <a:sym typeface="Consolas"/>
              </a:rPr>
              <a:t>    return line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Impact &amp; Use case</a:t>
            </a:r>
            <a:endParaRPr b="1">
              <a:solidFill>
                <a:srgbClr val="704EA6"/>
              </a:solidFill>
            </a:endParaRPr>
          </a:p>
        </p:txBody>
      </p:sp>
      <p:sp>
        <p:nvSpPr>
          <p:cNvPr id="301" name="Shape 301"/>
          <p:cNvSpPr txBox="1"/>
          <p:nvPr/>
        </p:nvSpPr>
        <p:spPr>
          <a:xfrm>
            <a:off x="932688" y="1554480"/>
            <a:ext cx="10332720" cy="31089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300" dirty="0">
                <a:solidFill>
                  <a:srgbClr val="63637E"/>
                </a:solidFill>
                <a:latin typeface="Calibri"/>
                <a:ea typeface="Calibri"/>
                <a:cs typeface="Calibri"/>
                <a:sym typeface="Calibri"/>
              </a:rPr>
              <a:t>The four settings from the theme brief. In each one, the gate changes what the user actually hears.</a:t>
            </a:r>
            <a:endParaRPr lang="en-US" sz="1300" dirty="0"/>
          </a:p>
        </p:txBody>
      </p:sp>
      <p:sp>
        <p:nvSpPr>
          <p:cNvPr id="302" name="In-car, hands-free"/>
          <p:cNvSpPr/>
          <p:nvPr/>
        </p:nvSpPr>
        <p:spPr>
          <a:xfrm>
            <a:off x="932688" y="1965960"/>
            <a:ext cx="5029200" cy="1554480"/>
          </a:xfrm>
          <a:prstGeom prst="roundRect">
            <a:avLst>
              <a:gd name="adj" fmla="val 7000"/>
            </a:avLst>
          </a:prstGeom>
          <a:solidFill>
            <a:srgbClr val="FFFFFF"/>
          </a:solidFill>
          <a:ln w="12700">
            <a:solidFill>
              <a:srgbClr val="D9D3F0"/>
            </a:solidFill>
          </a:ln>
        </p:spPr>
        <p:txBody>
          <a:bodyPr wrap="square" lIns="219456" tIns="164592" rIns="219456" bIns="109728" rtlCol="0" anchor="t">
            <a:noAutofit/>
          </a:bodyPr>
          <a:lstStyle/>
          <a:p>
            <a:pPr marL="0" indent="0" algn="l">
              <a:spcBef>
                <a:spcPts val="0"/>
              </a:spcBef>
              <a:spcAft>
                <a:spcPts val="0"/>
              </a:spcAft>
              <a:buNone/>
            </a:pPr>
            <a:r>
              <a:rPr lang="en-US" sz="1400" b="1" dirty="0">
                <a:solidFill>
                  <a:srgbClr val="14142B"/>
                </a:solidFill>
                <a:latin typeface="Calibri"/>
                <a:ea typeface="Calibri"/>
                <a:cs typeface="Calibri"/>
                <a:sym typeface="Calibri"/>
              </a:rPr>
              <a:t>In-car, hands-free</a:t>
            </a:r>
            <a:endParaRPr lang="en-US" sz="1400" dirty="0"/>
          </a:p>
          <a:p>
            <a:pPr marL="0" indent="0" algn="l">
              <a:lnSpc>
                <a:spcPct val="100000"/>
              </a:lnSpc>
              <a:spcBef>
                <a:spcPts val="600"/>
              </a:spcBef>
              <a:spcAft>
                <a:spcPts val="0"/>
              </a:spcAft>
              <a:buNone/>
            </a:pPr>
            <a:r>
              <a:rPr lang="en-US" sz="1500" dirty="0">
                <a:solidFill>
                  <a:srgbClr val="6D28D9"/>
                </a:solidFill>
                <a:latin typeface="Calibri"/>
                <a:ea typeface="Calibri"/>
                <a:cs typeface="Calibri"/>
                <a:sym typeface="Calibri"/>
              </a:rPr>
              <a:t>“Heading to Terminal 2 instead. New ETA 7:45.”</a:t>
            </a:r>
            <a:endParaRPr lang="en-US" sz="1500" dirty="0"/>
          </a:p>
          <a:p>
            <a:pPr marL="0" indent="0" algn="l">
              <a:lnSpc>
                <a:spcPct val="105000"/>
              </a:lnSpc>
              <a:spcBef>
                <a:spcPts val="700"/>
              </a:spcBef>
              <a:spcAft>
                <a:spcPts val="0"/>
              </a:spcAft>
              <a:buNone/>
            </a:pPr>
            <a:r>
              <a:rPr lang="en-US" sz="1200" dirty="0">
                <a:solidFill>
                  <a:srgbClr val="63637E"/>
                </a:solidFill>
                <a:latin typeface="Calibri"/>
                <a:ea typeface="Calibri"/>
                <a:cs typeface="Calibri"/>
                <a:sym typeface="Calibri"/>
              </a:rPr>
              <a:t>The ETA comes from the new route’s receipt, not the stale one. A driver can’t glance at a screen to double-check.</a:t>
            </a:r>
            <a:endParaRPr lang="en-US" sz="1200" dirty="0"/>
          </a:p>
        </p:txBody>
      </p:sp>
      <p:sp>
        <p:nvSpPr>
          <p:cNvPr id="303" name="Customer support"/>
          <p:cNvSpPr/>
          <p:nvPr/>
        </p:nvSpPr>
        <p:spPr>
          <a:xfrm>
            <a:off x="6236208" y="1965960"/>
            <a:ext cx="5029200" cy="1554480"/>
          </a:xfrm>
          <a:prstGeom prst="roundRect">
            <a:avLst>
              <a:gd name="adj" fmla="val 7000"/>
            </a:avLst>
          </a:prstGeom>
          <a:solidFill>
            <a:srgbClr val="FFFFFF"/>
          </a:solidFill>
          <a:ln w="12700">
            <a:solidFill>
              <a:srgbClr val="D9D3F0"/>
            </a:solidFill>
          </a:ln>
        </p:spPr>
        <p:txBody>
          <a:bodyPr wrap="square" lIns="219456" tIns="164592" rIns="219456" bIns="109728" rtlCol="0" anchor="t">
            <a:noAutofit/>
          </a:bodyPr>
          <a:lstStyle/>
          <a:p>
            <a:pPr marL="0" indent="0" algn="l">
              <a:spcBef>
                <a:spcPts val="0"/>
              </a:spcBef>
              <a:spcAft>
                <a:spcPts val="0"/>
              </a:spcAft>
              <a:buNone/>
            </a:pPr>
            <a:r>
              <a:rPr lang="en-US" sz="1400" b="1" dirty="0">
                <a:solidFill>
                  <a:srgbClr val="14142B"/>
                </a:solidFill>
                <a:latin typeface="Calibri"/>
                <a:ea typeface="Calibri"/>
                <a:cs typeface="Calibri"/>
                <a:sym typeface="Calibri"/>
              </a:rPr>
              <a:t>Customer support</a:t>
            </a:r>
            <a:endParaRPr lang="en-US" sz="1400" dirty="0"/>
          </a:p>
          <a:p>
            <a:pPr marL="0" indent="0" algn="l">
              <a:lnSpc>
                <a:spcPct val="100000"/>
              </a:lnSpc>
              <a:spcBef>
                <a:spcPts val="600"/>
              </a:spcBef>
              <a:spcAft>
                <a:spcPts val="0"/>
              </a:spcAft>
              <a:buNone/>
            </a:pPr>
            <a:r>
              <a:rPr lang="en-US" sz="1500" dirty="0">
                <a:solidFill>
                  <a:srgbClr val="6D28D9"/>
                </a:solidFill>
                <a:latin typeface="Calibri"/>
                <a:ea typeface="Calibri"/>
                <a:cs typeface="Calibri"/>
                <a:sym typeface="Calibri"/>
              </a:rPr>
              <a:t>“Moved your booking to Friday. Same seat, no second charge.”</a:t>
            </a:r>
            <a:endParaRPr lang="en-US" sz="1500" dirty="0"/>
          </a:p>
          <a:p>
            <a:pPr marL="0" indent="0" algn="l">
              <a:lnSpc>
                <a:spcPct val="105000"/>
              </a:lnSpc>
              <a:spcBef>
                <a:spcPts val="700"/>
              </a:spcBef>
              <a:spcAft>
                <a:spcPts val="0"/>
              </a:spcAft>
              <a:buNone/>
            </a:pPr>
            <a:r>
              <a:rPr lang="en-US" sz="1200" dirty="0">
                <a:solidFill>
                  <a:srgbClr val="63637E"/>
                </a:solidFill>
                <a:latin typeface="Calibri"/>
                <a:ea typeface="Calibri"/>
                <a:cs typeface="Calibri"/>
                <a:sym typeface="Calibri"/>
              </a:rPr>
              <a:t>Said only once the change is confirmed. A false “done” turns into a double booking or a second complaint.</a:t>
            </a:r>
            <a:endParaRPr lang="en-US" sz="1200" dirty="0"/>
          </a:p>
        </p:txBody>
      </p:sp>
      <p:sp>
        <p:nvSpPr>
          <p:cNvPr id="304" name="Field troubleshooting"/>
          <p:cNvSpPr/>
          <p:nvPr/>
        </p:nvSpPr>
        <p:spPr>
          <a:xfrm>
            <a:off x="932688" y="3794760"/>
            <a:ext cx="5029200" cy="1554480"/>
          </a:xfrm>
          <a:prstGeom prst="roundRect">
            <a:avLst>
              <a:gd name="adj" fmla="val 7000"/>
            </a:avLst>
          </a:prstGeom>
          <a:solidFill>
            <a:srgbClr val="FFFFFF"/>
          </a:solidFill>
          <a:ln w="12700">
            <a:solidFill>
              <a:srgbClr val="D9D3F0"/>
            </a:solidFill>
          </a:ln>
        </p:spPr>
        <p:txBody>
          <a:bodyPr wrap="square" lIns="219456" tIns="164592" rIns="219456" bIns="109728" rtlCol="0" anchor="t">
            <a:noAutofit/>
          </a:bodyPr>
          <a:lstStyle/>
          <a:p>
            <a:pPr marL="0" indent="0" algn="l">
              <a:spcBef>
                <a:spcPts val="0"/>
              </a:spcBef>
              <a:spcAft>
                <a:spcPts val="0"/>
              </a:spcAft>
              <a:buNone/>
            </a:pPr>
            <a:r>
              <a:rPr lang="en-US" sz="1400" b="1" dirty="0">
                <a:solidFill>
                  <a:srgbClr val="14142B"/>
                </a:solidFill>
                <a:latin typeface="Calibri"/>
                <a:ea typeface="Calibri"/>
                <a:cs typeface="Calibri"/>
                <a:sym typeface="Calibri"/>
              </a:rPr>
              <a:t>Field troubleshooting</a:t>
            </a:r>
            <a:endParaRPr lang="en-US" sz="1400" dirty="0"/>
          </a:p>
          <a:p>
            <a:pPr marL="0" indent="0" algn="l">
              <a:lnSpc>
                <a:spcPct val="100000"/>
              </a:lnSpc>
              <a:spcBef>
                <a:spcPts val="600"/>
              </a:spcBef>
              <a:spcAft>
                <a:spcPts val="0"/>
              </a:spcAft>
              <a:buNone/>
            </a:pPr>
            <a:r>
              <a:rPr lang="en-US" sz="1500" dirty="0">
                <a:solidFill>
                  <a:srgbClr val="6D28D9"/>
                </a:solidFill>
                <a:latin typeface="Calibri"/>
                <a:ea typeface="Calibri"/>
                <a:cs typeface="Calibri"/>
                <a:sym typeface="Calibri"/>
              </a:rPr>
              <a:t>“Found 5C in the manual. It’s a drain error, so check the filter first.”</a:t>
            </a:r>
            <a:endParaRPr lang="en-US" sz="1500" dirty="0"/>
          </a:p>
          <a:p>
            <a:pPr marL="0" indent="0" algn="l">
              <a:lnSpc>
                <a:spcPct val="105000"/>
              </a:lnSpc>
              <a:spcBef>
                <a:spcPts val="700"/>
              </a:spcBef>
              <a:spcAft>
                <a:spcPts val="0"/>
              </a:spcAft>
              <a:buNone/>
            </a:pPr>
            <a:r>
              <a:rPr lang="en-US" sz="1200" dirty="0">
                <a:solidFill>
                  <a:srgbClr val="63637E"/>
                </a:solidFill>
                <a:latin typeface="Calibri"/>
                <a:ea typeface="Calibri"/>
                <a:cs typeface="Calibri"/>
                <a:sym typeface="Calibri"/>
              </a:rPr>
              <a:t>Only after the manual lookup returns. A technician acts on what they hear.</a:t>
            </a:r>
            <a:endParaRPr lang="en-US" sz="1200" dirty="0"/>
          </a:p>
        </p:txBody>
      </p:sp>
      <p:sp>
        <p:nvSpPr>
          <p:cNvPr id="305" name="Accessibility"/>
          <p:cNvSpPr/>
          <p:nvPr/>
        </p:nvSpPr>
        <p:spPr>
          <a:xfrm>
            <a:off x="6236208" y="3794760"/>
            <a:ext cx="5029200" cy="1554480"/>
          </a:xfrm>
          <a:prstGeom prst="roundRect">
            <a:avLst>
              <a:gd name="adj" fmla="val 7000"/>
            </a:avLst>
          </a:prstGeom>
          <a:solidFill>
            <a:srgbClr val="FFFFFF"/>
          </a:solidFill>
          <a:ln w="12700">
            <a:solidFill>
              <a:srgbClr val="D9D3F0"/>
            </a:solidFill>
          </a:ln>
        </p:spPr>
        <p:txBody>
          <a:bodyPr wrap="square" lIns="219456" tIns="164592" rIns="219456" bIns="109728" rtlCol="0" anchor="t">
            <a:noAutofit/>
          </a:bodyPr>
          <a:lstStyle/>
          <a:p>
            <a:pPr marL="0" indent="0" algn="l">
              <a:spcBef>
                <a:spcPts val="0"/>
              </a:spcBef>
              <a:spcAft>
                <a:spcPts val="0"/>
              </a:spcAft>
              <a:buNone/>
            </a:pPr>
            <a:r>
              <a:rPr lang="en-US" sz="1400" b="1" dirty="0">
                <a:solidFill>
                  <a:srgbClr val="14142B"/>
                </a:solidFill>
                <a:latin typeface="Calibri"/>
                <a:ea typeface="Calibri"/>
                <a:cs typeface="Calibri"/>
                <a:sym typeface="Calibri"/>
              </a:rPr>
              <a:t>Accessibility</a:t>
            </a:r>
            <a:endParaRPr lang="en-US" sz="1400" dirty="0"/>
          </a:p>
          <a:p>
            <a:pPr marL="0" indent="0" algn="l">
              <a:lnSpc>
                <a:spcPct val="100000"/>
              </a:lnSpc>
              <a:spcBef>
                <a:spcPts val="600"/>
              </a:spcBef>
              <a:spcAft>
                <a:spcPts val="0"/>
              </a:spcAft>
              <a:buNone/>
            </a:pPr>
            <a:r>
              <a:rPr lang="en-US" sz="1500" dirty="0">
                <a:solidFill>
                  <a:srgbClr val="6D28D9"/>
                </a:solidFill>
                <a:latin typeface="Calibri"/>
                <a:ea typeface="Calibri"/>
                <a:cs typeface="Calibri"/>
                <a:sym typeface="Calibri"/>
              </a:rPr>
              <a:t>“Still checking. One second.”</a:t>
            </a:r>
            <a:endParaRPr lang="en-US" sz="1500" dirty="0"/>
          </a:p>
          <a:p>
            <a:pPr marL="0" indent="0" algn="l">
              <a:lnSpc>
                <a:spcPct val="105000"/>
              </a:lnSpc>
              <a:spcBef>
                <a:spcPts val="700"/>
              </a:spcBef>
              <a:spcAft>
                <a:spcPts val="0"/>
              </a:spcAft>
              <a:buNone/>
            </a:pPr>
            <a:r>
              <a:rPr lang="en-US" sz="1200" dirty="0">
                <a:solidFill>
                  <a:srgbClr val="63637E"/>
                </a:solidFill>
                <a:latin typeface="Calibri"/>
                <a:ea typeface="Calibri"/>
                <a:cs typeface="Calibri"/>
                <a:sym typeface="Calibri"/>
              </a:rPr>
              <a:t>Better than a confident guess. For someone who can’t see a screen, what the assistant says is the only receipt they get.</a:t>
            </a:r>
            <a:endParaRPr lang="en-US" sz="1200" dirty="0"/>
          </a:p>
        </p:txBody>
      </p:sp>
      <p:sp>
        <p:nvSpPr>
          <p:cNvPr id="306" name="Samsung strip"/>
          <p:cNvSpPr/>
          <p:nvPr/>
        </p:nvSpPr>
        <p:spPr>
          <a:xfrm>
            <a:off x="932688" y="5577840"/>
            <a:ext cx="10332720" cy="694944"/>
          </a:xfrm>
          <a:prstGeom prst="roundRect">
            <a:avLst>
              <a:gd name="adj" fmla="val 12000"/>
            </a:avLst>
          </a:prstGeom>
          <a:solidFill>
            <a:srgbClr val="F5F3FF"/>
          </a:solidFill>
          <a:ln>
            <a:noFill/>
          </a:ln>
        </p:spPr>
        <p:txBody>
          <a:bodyPr wrap="square" lIns="228600" tIns="73152" rIns="228600" bIns="73152" rtlCol="0" anchor="ctr">
            <a:noAutofit/>
          </a:bodyPr>
          <a:lstStyle/>
          <a:p>
            <a:pPr marL="0" indent="0" algn="l">
              <a:lnSpc>
                <a:spcPct val="105000"/>
              </a:lnSpc>
              <a:spcBef>
                <a:spcPts val="0"/>
              </a:spcBef>
              <a:spcAft>
                <a:spcPts val="0"/>
              </a:spcAft>
              <a:buNone/>
            </a:pPr>
            <a:r>
              <a:rPr lang="en-US" sz="1300" b="1" dirty="0">
                <a:solidFill>
                  <a:srgbClr val="6D28D9"/>
                </a:solidFill>
                <a:latin typeface="Calibri"/>
                <a:ea typeface="Calibri"/>
                <a:cs typeface="Calibri"/>
                <a:sym typeface="Calibri"/>
              </a:rPr>
              <a:t>Where this lands at Samsung   </a:t>
            </a:r>
            <a:r>
              <a:rPr lang="en-US" sz="1300" dirty="0">
                <a:solidFill>
                  <a:srgbClr val="14142B"/>
                </a:solidFill>
                <a:latin typeface="Calibri"/>
                <a:ea typeface="Calibri"/>
                <a:cs typeface="Calibri"/>
                <a:sym typeface="Calibri"/>
              </a:rPr>
              <a:t>Bixby on Galaxy phones and home appliances, SmartThings device help, and Harman’s in-car systems. The gate doesn’t care about the domain. It only reads receipts, so one layer can cover all of them.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Innovation highlights, results and limitations</a:t>
            </a:r>
            <a:endParaRPr sz="4400" b="1">
              <a:solidFill>
                <a:srgbClr val="704EA6"/>
              </a:solidFill>
            </a:endParaRPr>
          </a:p>
        </p:txBody>
      </p:sp>
      <p:sp>
        <p:nvSpPr>
          <p:cNvPr id="301" name="Shape 301"/>
          <p:cNvSpPr txBox="1"/>
          <p:nvPr/>
        </p:nvSpPr>
        <p:spPr>
          <a:xfrm>
            <a:off x="932688" y="1645920"/>
            <a:ext cx="324612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600" b="1" dirty="0">
                <a:solidFill>
                  <a:srgbClr val="14142B"/>
                </a:solidFill>
                <a:latin typeface="Calibri"/>
                <a:ea typeface="Calibri"/>
                <a:cs typeface="Calibri"/>
                <a:sym typeface="Calibri"/>
              </a:rPr>
              <a:t>What’s new</a:t>
            </a:r>
            <a:endParaRPr lang="en-US" sz="1600" dirty="0"/>
          </a:p>
        </p:txBody>
      </p:sp>
      <p:sp>
        <p:nvSpPr>
          <p:cNvPr id="302" name="Shape 302"/>
          <p:cNvSpPr txBox="1"/>
          <p:nvPr/>
        </p:nvSpPr>
        <p:spPr>
          <a:xfrm>
            <a:off x="4480560" y="1645920"/>
            <a:ext cx="324612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600" b="1" dirty="0">
                <a:solidFill>
                  <a:srgbClr val="14142B"/>
                </a:solidFill>
                <a:latin typeface="Calibri"/>
                <a:ea typeface="Calibri"/>
                <a:cs typeface="Calibri"/>
                <a:sym typeface="Calibri"/>
              </a:rPr>
              <a:t>How we’ll measure it</a:t>
            </a:r>
            <a:endParaRPr lang="en-US" sz="1600" dirty="0"/>
          </a:p>
        </p:txBody>
      </p:sp>
      <p:sp>
        <p:nvSpPr>
          <p:cNvPr id="303" name="Shape 303"/>
          <p:cNvSpPr txBox="1"/>
          <p:nvPr/>
        </p:nvSpPr>
        <p:spPr>
          <a:xfrm>
            <a:off x="8019288" y="1645920"/>
            <a:ext cx="3246120" cy="3657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600" b="1" dirty="0">
                <a:solidFill>
                  <a:srgbClr val="14142B"/>
                </a:solidFill>
                <a:latin typeface="Calibri"/>
                <a:ea typeface="Calibri"/>
                <a:cs typeface="Calibri"/>
                <a:sym typeface="Calibri"/>
              </a:rPr>
              <a:t>Where it falls short</a:t>
            </a:r>
            <a:endParaRPr lang="en-US" sz="1600" dirty="0"/>
          </a:p>
        </p:txBody>
      </p:sp>
      <p:sp>
        <p:nvSpPr>
          <p:cNvPr id="304" name="Shape 304"/>
          <p:cNvSpPr txBox="1"/>
          <p:nvPr/>
        </p:nvSpPr>
        <p:spPr>
          <a:xfrm>
            <a:off x="932688" y="2194560"/>
            <a:ext cx="3246120" cy="402336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The gate is code, not a prompt.</a:t>
            </a:r>
            <a:endParaRPr lang="en-US" sz="1300" dirty="0"/>
          </a:p>
          <a:p>
            <a:pPr marL="0" indent="0" algn="l">
              <a:lnSpc>
                <a:spcPct val="105000"/>
              </a:lnSpc>
              <a:spcBef>
                <a:spcPts val="200"/>
              </a:spcBef>
              <a:spcAft>
                <a:spcPts val="1300"/>
              </a:spcAft>
              <a:buNone/>
            </a:pPr>
            <a:r>
              <a:rPr lang="en-US" sz="1200" dirty="0">
                <a:solidFill>
                  <a:srgbClr val="63637E"/>
                </a:solidFill>
                <a:latin typeface="Calibri"/>
                <a:ea typeface="Calibri"/>
                <a:cs typeface="Calibri"/>
                <a:sym typeface="Calibri"/>
              </a:rPr>
              <a:t>Claims are checked against receipts, so the model can’t talk its way past it.</a:t>
            </a:r>
            <a:endParaRPr lang="en-US" sz="1200" dirty="0"/>
          </a:p>
          <a:p>
            <a:pPr marL="0" indent="0" algn="l">
              <a:spcBef>
                <a:spcPts val="0"/>
              </a:spcBef>
              <a:spcAft>
                <a:spcPts val="0"/>
              </a:spcAft>
              <a:buNone/>
            </a:pPr>
            <a:r>
              <a:rPr lang="en-US" sz="1300" b="1" dirty="0">
                <a:solidFill>
                  <a:srgbClr val="14142B"/>
                </a:solidFill>
                <a:latin typeface="Calibri"/>
                <a:ea typeface="Calibri"/>
                <a:cs typeface="Calibri"/>
                <a:sym typeface="Calibri"/>
              </a:rPr>
              <a:t>Blocked lines get rewritten.</a:t>
            </a:r>
            <a:endParaRPr lang="en-US" sz="1300" dirty="0"/>
          </a:p>
          <a:p>
            <a:pPr marL="0" indent="0" algn="l">
              <a:lnSpc>
                <a:spcPct val="105000"/>
              </a:lnSpc>
              <a:spcBef>
                <a:spcPts val="200"/>
              </a:spcBef>
              <a:spcAft>
                <a:spcPts val="1300"/>
              </a:spcAft>
              <a:buNone/>
            </a:pPr>
            <a:r>
              <a:rPr lang="en-US" sz="1200" dirty="0">
                <a:solidFill>
                  <a:srgbClr val="63637E"/>
                </a:solidFill>
                <a:latin typeface="Calibri"/>
                <a:ea typeface="Calibri"/>
                <a:cs typeface="Calibri"/>
                <a:sym typeface="Calibri"/>
              </a:rPr>
              <a:t>“Confirming now” instead of a false “done”, so there’s no dead air.</a:t>
            </a:r>
            <a:endParaRPr lang="en-US" sz="1200" dirty="0"/>
          </a:p>
          <a:p>
            <a:pPr marL="0" indent="0" algn="l">
              <a:spcBef>
                <a:spcPts val="0"/>
              </a:spcBef>
              <a:spcAft>
                <a:spcPts val="0"/>
              </a:spcAft>
              <a:buNone/>
            </a:pPr>
            <a:r>
              <a:rPr lang="en-US" sz="1300" b="1" dirty="0">
                <a:solidFill>
                  <a:srgbClr val="14142B"/>
                </a:solidFill>
                <a:latin typeface="Calibri"/>
                <a:ea typeface="Calibri"/>
                <a:cs typeface="Calibri"/>
                <a:sym typeface="Calibri"/>
              </a:rPr>
              <a:t>Fillers say something.</a:t>
            </a:r>
            <a:endParaRPr lang="en-US" sz="1300" dirty="0"/>
          </a:p>
          <a:p>
            <a:pPr marL="0" indent="0" algn="l">
              <a:lnSpc>
                <a:spcPct val="105000"/>
              </a:lnSpc>
              <a:spcBef>
                <a:spcPts val="200"/>
              </a:spcBef>
              <a:spcAft>
                <a:spcPts val="1300"/>
              </a:spcAft>
              <a:buNone/>
            </a:pPr>
            <a:r>
              <a:rPr lang="en-US" sz="1200" dirty="0">
                <a:solidFill>
                  <a:srgbClr val="63637E"/>
                </a:solidFill>
                <a:latin typeface="Calibri"/>
                <a:ea typeface="Calibri"/>
                <a:cs typeface="Calibri"/>
                <a:sym typeface="Calibri"/>
              </a:rPr>
              <a:t>They’re built from live slots, so they’re instant and show the user what we understood.</a:t>
            </a:r>
            <a:endParaRPr lang="en-US" sz="1200" dirty="0"/>
          </a:p>
          <a:p>
            <a:pPr marL="0" indent="0" algn="l">
              <a:spcBef>
                <a:spcPts val="0"/>
              </a:spcBef>
              <a:spcAft>
                <a:spcPts val="0"/>
              </a:spcAft>
              <a:buNone/>
            </a:pPr>
            <a:r>
              <a:rPr lang="en-US" sz="1300" b="1" dirty="0">
                <a:solidFill>
                  <a:srgbClr val="14142B"/>
                </a:solidFill>
                <a:latin typeface="Calibri"/>
                <a:ea typeface="Calibri"/>
                <a:cs typeface="Calibri"/>
                <a:sym typeface="Calibri"/>
              </a:rPr>
              <a:t>Unseen tools are covered.</a:t>
            </a:r>
            <a:endParaRPr lang="en-US" sz="1300" dirty="0"/>
          </a:p>
          <a:p>
            <a:pPr marL="0" indent="0" algn="l">
              <a:lnSpc>
                <a:spcPct val="105000"/>
              </a:lnSpc>
              <a:spcBef>
                <a:spcPts val="200"/>
              </a:spcBef>
              <a:spcAft>
                <a:spcPts val="1300"/>
              </a:spcAft>
              <a:buNone/>
            </a:pPr>
            <a:r>
              <a:rPr lang="en-US" sz="1200" dirty="0">
                <a:solidFill>
                  <a:srgbClr val="63637E"/>
                </a:solidFill>
                <a:latin typeface="Calibri"/>
                <a:ea typeface="Calibri"/>
                <a:cs typeface="Calibri"/>
                <a:sym typeface="Calibri"/>
              </a:rPr>
              <a:t>The verb list is compiled from each manifest, so new tools get gated with no new code.</a:t>
            </a:r>
            <a:endParaRPr lang="en-US" sz="1200" dirty="0"/>
          </a:p>
        </p:txBody>
      </p:sp>
      <p:sp>
        <p:nvSpPr>
          <p:cNvPr id="305" name="Targets card"/>
          <p:cNvSpPr/>
          <p:nvPr/>
        </p:nvSpPr>
        <p:spPr>
          <a:xfrm>
            <a:off x="4480560" y="2148840"/>
            <a:ext cx="3246120" cy="3977640"/>
          </a:xfrm>
          <a:prstGeom prst="roundRect">
            <a:avLst>
              <a:gd name="adj" fmla="val 6000"/>
            </a:avLst>
          </a:prstGeom>
          <a:solidFill>
            <a:srgbClr val="F5F3FF"/>
          </a:solidFill>
          <a:ln>
            <a:noFill/>
          </a:ln>
        </p:spPr>
        <p:txBody>
          <a:bodyPr wrap="square" lIns="237744" tIns="182880" rIns="201168" bIns="109728" rtlCol="0" anchor="t">
            <a:noAutofit/>
          </a:bodyPr>
          <a:lstStyle/>
          <a:p>
            <a:pPr marL="0" indent="0" algn="l">
              <a:lnSpc>
                <a:spcPct val="95000"/>
              </a:lnSpc>
              <a:spcBef>
                <a:spcPts val="0"/>
              </a:spcBef>
              <a:spcAft>
                <a:spcPts val="0"/>
              </a:spcAft>
              <a:buNone/>
            </a:pPr>
            <a:r>
              <a:rPr lang="en-US" sz="3000" b="1" dirty="0">
                <a:solidFill>
                  <a:srgbClr val="6D28D9"/>
                </a:solidFill>
                <a:latin typeface="Arial"/>
                <a:ea typeface="Arial"/>
                <a:cs typeface="Arial"/>
                <a:sym typeface="Arial"/>
              </a:rPr>
              <a:t>0</a:t>
            </a:r>
            <a:endParaRPr lang="en-US" sz="3000" dirty="0"/>
          </a:p>
          <a:p>
            <a:pPr marL="0" indent="0" algn="l">
              <a:spcBef>
                <a:spcPts val="100"/>
              </a:spcBef>
              <a:spcAft>
                <a:spcPts val="1200"/>
              </a:spcAft>
              <a:buNone/>
            </a:pPr>
            <a:r>
              <a:rPr lang="en-US" sz="1200" dirty="0">
                <a:solidFill>
                  <a:srgbClr val="63637E"/>
                </a:solidFill>
                <a:latin typeface="Calibri"/>
                <a:ea typeface="Calibri"/>
                <a:cs typeface="Calibri"/>
                <a:sym typeface="Calibri"/>
              </a:rPr>
              <a:t>false “done” claims</a:t>
            </a:r>
            <a:endParaRPr lang="en-US" sz="1200" dirty="0"/>
          </a:p>
          <a:p>
            <a:pPr marL="0" indent="0" algn="l">
              <a:lnSpc>
                <a:spcPct val="95000"/>
              </a:lnSpc>
              <a:spcBef>
                <a:spcPts val="0"/>
              </a:spcBef>
              <a:spcAft>
                <a:spcPts val="0"/>
              </a:spcAft>
              <a:buNone/>
            </a:pPr>
            <a:r>
              <a:rPr lang="en-US" sz="3000" b="1" dirty="0">
                <a:solidFill>
                  <a:srgbClr val="6D28D9"/>
                </a:solidFill>
                <a:latin typeface="Arial"/>
                <a:ea typeface="Arial"/>
                <a:cs typeface="Arial"/>
                <a:sym typeface="Arial"/>
              </a:rPr>
              <a:t>0</a:t>
            </a:r>
            <a:endParaRPr lang="en-US" sz="3000" dirty="0"/>
          </a:p>
          <a:p>
            <a:pPr marL="0" indent="0" algn="l">
              <a:spcBef>
                <a:spcPts val="100"/>
              </a:spcBef>
              <a:spcAft>
                <a:spcPts val="1200"/>
              </a:spcAft>
              <a:buNone/>
            </a:pPr>
            <a:r>
              <a:rPr lang="en-US" sz="1200" dirty="0">
                <a:solidFill>
                  <a:srgbClr val="63637E"/>
                </a:solidFill>
                <a:latin typeface="Calibri"/>
                <a:ea typeface="Calibri"/>
                <a:cs typeface="Calibri"/>
                <a:sym typeface="Calibri"/>
              </a:rPr>
              <a:t>duplicate bookings or tickets</a:t>
            </a:r>
            <a:endParaRPr lang="en-US" sz="1200" dirty="0"/>
          </a:p>
          <a:p>
            <a:pPr marL="0" indent="0" algn="l">
              <a:lnSpc>
                <a:spcPct val="95000"/>
              </a:lnSpc>
              <a:spcBef>
                <a:spcPts val="0"/>
              </a:spcBef>
              <a:spcAft>
                <a:spcPts val="0"/>
              </a:spcAft>
              <a:buNone/>
            </a:pPr>
            <a:r>
              <a:rPr lang="en-US" sz="3000" b="1" dirty="0">
                <a:solidFill>
                  <a:srgbClr val="6D28D9"/>
                </a:solidFill>
                <a:latin typeface="Arial"/>
                <a:ea typeface="Arial"/>
                <a:cs typeface="Arial"/>
                <a:sym typeface="Arial"/>
              </a:rPr>
              <a:t>&lt; 300 ms</a:t>
            </a:r>
            <a:endParaRPr lang="en-US" sz="3000" dirty="0"/>
          </a:p>
          <a:p>
            <a:pPr marL="0" indent="0" algn="l">
              <a:spcBef>
                <a:spcPts val="100"/>
              </a:spcBef>
              <a:spcAft>
                <a:spcPts val="1200"/>
              </a:spcAft>
              <a:buNone/>
            </a:pPr>
            <a:r>
              <a:rPr lang="en-US" sz="1200" dirty="0">
                <a:solidFill>
                  <a:srgbClr val="63637E"/>
                </a:solidFill>
                <a:latin typeface="Calibri"/>
                <a:ea typeface="Calibri"/>
                <a:cs typeface="Calibri"/>
                <a:sym typeface="Calibri"/>
              </a:rPr>
              <a:t>to the first line that says something real</a:t>
            </a:r>
            <a:endParaRPr lang="en-US" sz="1200" dirty="0"/>
          </a:p>
          <a:p>
            <a:pPr marL="0" indent="0" algn="l">
              <a:lnSpc>
                <a:spcPct val="95000"/>
              </a:lnSpc>
              <a:spcBef>
                <a:spcPts val="0"/>
              </a:spcBef>
              <a:spcAft>
                <a:spcPts val="0"/>
              </a:spcAft>
              <a:buNone/>
            </a:pPr>
            <a:r>
              <a:rPr lang="en-US" sz="3000" b="1" dirty="0">
                <a:solidFill>
                  <a:srgbClr val="6D28D9"/>
                </a:solidFill>
                <a:latin typeface="Arial"/>
                <a:ea typeface="Arial"/>
                <a:cs typeface="Arial"/>
                <a:sym typeface="Arial"/>
              </a:rPr>
              <a:t>100%</a:t>
            </a:r>
            <a:endParaRPr lang="en-US" sz="3000" dirty="0"/>
          </a:p>
          <a:p>
            <a:pPr marL="0" indent="0" algn="l">
              <a:spcBef>
                <a:spcPts val="100"/>
              </a:spcBef>
              <a:spcAft>
                <a:spcPts val="1200"/>
              </a:spcAft>
              <a:buNone/>
            </a:pPr>
            <a:r>
              <a:rPr lang="en-US" sz="1200" dirty="0">
                <a:solidFill>
                  <a:srgbClr val="63637E"/>
                </a:solidFill>
                <a:latin typeface="Calibri"/>
                <a:ea typeface="Calibri"/>
                <a:cs typeface="Calibri"/>
                <a:sym typeface="Calibri"/>
              </a:rPr>
              <a:t>of injected faults narrated, none hidden</a:t>
            </a:r>
            <a:endParaRPr lang="en-US" sz="1200" dirty="0"/>
          </a:p>
          <a:p>
            <a:pPr marL="0" indent="0" algn="l">
              <a:lnSpc>
                <a:spcPct val="105000"/>
              </a:lnSpc>
              <a:spcBef>
                <a:spcPts val="400"/>
              </a:spcBef>
              <a:spcAft>
                <a:spcPts val="0"/>
              </a:spcAft>
              <a:buNone/>
            </a:pPr>
            <a:r>
              <a:rPr lang="en-US" sz="1050" i="1" dirty="0">
                <a:solidFill>
                  <a:srgbClr val="63637E"/>
                </a:solidFill>
                <a:latin typeface="Calibri"/>
                <a:ea typeface="Calibri"/>
                <a:cs typeface="Calibri"/>
                <a:sym typeface="Calibri"/>
              </a:rPr>
              <a:t>Targets for the public suite. We’ll report measured numbers as soon as the kit is out.</a:t>
            </a:r>
            <a:endParaRPr lang="en-US" sz="1050" dirty="0"/>
          </a:p>
        </p:txBody>
      </p:sp>
      <p:sp>
        <p:nvSpPr>
          <p:cNvPr id="306" name="Shape 306"/>
          <p:cNvSpPr txBox="1"/>
          <p:nvPr/>
        </p:nvSpPr>
        <p:spPr>
          <a:xfrm>
            <a:off x="8019288" y="2194560"/>
            <a:ext cx="3246120" cy="402336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300" b="1" dirty="0">
                <a:solidFill>
                  <a:srgbClr val="14142B"/>
                </a:solidFill>
                <a:latin typeface="Calibri"/>
                <a:ea typeface="Calibri"/>
                <a:cs typeface="Calibri"/>
                <a:sym typeface="Calibri"/>
              </a:rPr>
              <a:t>We trust receipts.</a:t>
            </a:r>
            <a:endParaRPr lang="en-US" sz="1300" dirty="0"/>
          </a:p>
          <a:p>
            <a:pPr marL="0" indent="0" algn="l">
              <a:lnSpc>
                <a:spcPct val="105000"/>
              </a:lnSpc>
              <a:spcBef>
                <a:spcPts val="200"/>
              </a:spcBef>
              <a:spcAft>
                <a:spcPts val="1300"/>
              </a:spcAft>
              <a:buNone/>
            </a:pPr>
            <a:r>
              <a:rPr lang="en-US" sz="1200" dirty="0">
                <a:solidFill>
                  <a:srgbClr val="63637E"/>
                </a:solidFill>
                <a:latin typeface="Calibri"/>
                <a:ea typeface="Calibri"/>
                <a:cs typeface="Calibri"/>
                <a:sym typeface="Calibri"/>
              </a:rPr>
              <a:t>If a tool says “success” and is wrong, the gate lets it through.</a:t>
            </a:r>
            <a:endParaRPr lang="en-US" sz="1200" dirty="0"/>
          </a:p>
          <a:p>
            <a:pPr marL="0" indent="0" algn="l">
              <a:spcBef>
                <a:spcPts val="0"/>
              </a:spcBef>
              <a:spcAft>
                <a:spcPts val="0"/>
              </a:spcAft>
              <a:buNone/>
            </a:pPr>
            <a:r>
              <a:rPr lang="en-US" sz="1300" b="1" dirty="0">
                <a:solidFill>
                  <a:srgbClr val="14142B"/>
                </a:solidFill>
                <a:latin typeface="Calibri"/>
                <a:ea typeface="Calibri"/>
                <a:cs typeface="Calibri"/>
                <a:sym typeface="Calibri"/>
              </a:rPr>
              <a:t>Odd phrasings can slip past.</a:t>
            </a:r>
            <a:endParaRPr lang="en-US" sz="1300" dirty="0"/>
          </a:p>
          <a:p>
            <a:pPr marL="0" indent="0" algn="l">
              <a:lnSpc>
                <a:spcPct val="105000"/>
              </a:lnSpc>
              <a:spcBef>
                <a:spcPts val="200"/>
              </a:spcBef>
              <a:spcAft>
                <a:spcPts val="1300"/>
              </a:spcAft>
              <a:buNone/>
            </a:pPr>
            <a:r>
              <a:rPr lang="en-US" sz="1200" dirty="0">
                <a:solidFill>
                  <a:srgbClr val="63637E"/>
                </a:solidFill>
                <a:latin typeface="Calibri"/>
                <a:ea typeface="Calibri"/>
                <a:cs typeface="Calibri"/>
                <a:sym typeface="Calibri"/>
              </a:rPr>
              <a:t>“You’re all set” has to be in the verb list. We grow it from the public scenarios.</a:t>
            </a:r>
            <a:endParaRPr lang="en-US" sz="1200" dirty="0"/>
          </a:p>
          <a:p>
            <a:pPr marL="0" indent="0" algn="l">
              <a:spcBef>
                <a:spcPts val="0"/>
              </a:spcBef>
              <a:spcAft>
                <a:spcPts val="0"/>
              </a:spcAft>
              <a:buNone/>
            </a:pPr>
            <a:r>
              <a:rPr lang="en-US" sz="1300" b="1" dirty="0">
                <a:solidFill>
                  <a:srgbClr val="14142B"/>
                </a:solidFill>
                <a:latin typeface="Calibri"/>
                <a:ea typeface="Calibri"/>
                <a:cs typeface="Calibri"/>
                <a:sym typeface="Calibri"/>
              </a:rPr>
              <a:t>Facts, not tone.</a:t>
            </a:r>
            <a:endParaRPr lang="en-US" sz="1300" dirty="0"/>
          </a:p>
          <a:p>
            <a:pPr marL="0" indent="0" algn="l">
              <a:lnSpc>
                <a:spcPct val="105000"/>
              </a:lnSpc>
              <a:spcBef>
                <a:spcPts val="200"/>
              </a:spcBef>
              <a:spcAft>
                <a:spcPts val="1300"/>
              </a:spcAft>
              <a:buNone/>
            </a:pPr>
            <a:r>
              <a:rPr lang="en-US" sz="1200" dirty="0">
                <a:solidFill>
                  <a:srgbClr val="63637E"/>
                </a:solidFill>
                <a:latin typeface="Calibri"/>
                <a:ea typeface="Calibri"/>
                <a:cs typeface="Calibri"/>
                <a:sym typeface="Calibri"/>
              </a:rPr>
              <a:t>A true sentence can still sound clumsy.</a:t>
            </a:r>
            <a:endParaRPr lang="en-US" sz="1200" dirty="0"/>
          </a:p>
          <a:p>
            <a:pPr marL="0" indent="0" algn="l">
              <a:spcBef>
                <a:spcPts val="0"/>
              </a:spcBef>
              <a:spcAft>
                <a:spcPts val="0"/>
              </a:spcAft>
              <a:buNone/>
            </a:pPr>
            <a:r>
              <a:rPr lang="en-US" sz="1300" b="1" dirty="0">
                <a:solidFill>
                  <a:srgbClr val="14142B"/>
                </a:solidFill>
                <a:latin typeface="Calibri"/>
                <a:ea typeface="Calibri"/>
                <a:cs typeface="Calibri"/>
                <a:sym typeface="Calibri"/>
              </a:rPr>
              <a:t>A small cost per line.</a:t>
            </a:r>
            <a:endParaRPr lang="en-US" sz="1300" dirty="0"/>
          </a:p>
          <a:p>
            <a:pPr marL="0" indent="0" algn="l">
              <a:lnSpc>
                <a:spcPct val="105000"/>
              </a:lnSpc>
              <a:spcBef>
                <a:spcPts val="200"/>
              </a:spcBef>
              <a:spcAft>
                <a:spcPts val="1300"/>
              </a:spcAft>
              <a:buNone/>
            </a:pPr>
            <a:r>
              <a:rPr lang="en-US" sz="1200" dirty="0">
                <a:solidFill>
                  <a:srgbClr val="63637E"/>
                </a:solidFill>
                <a:latin typeface="Calibri"/>
                <a:ea typeface="Calibri"/>
                <a:cs typeface="Calibri"/>
                <a:sym typeface="Calibri"/>
              </a:rPr>
              <a:t>Every sentence is checked before it’s spoken.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What’s next</a:t>
            </a:r>
            <a:endParaRPr sz="4400" b="1">
              <a:solidFill>
                <a:srgbClr val="704EA6"/>
              </a:solidFill>
            </a:endParaRPr>
          </a:p>
        </p:txBody>
      </p:sp>
      <p:cxnSp>
        <p:nvCxnSpPr>
          <p:cNvPr id="301" name="Connector 301"/>
          <p:cNvCxnSpPr/>
          <p:nvPr/>
        </p:nvCxnSpPr>
        <p:spPr>
          <a:xfrm>
            <a:off x="1088136" y="2103120"/>
            <a:ext cx="7955280" cy="0"/>
          </a:xfrm>
          <a:prstGeom prst="straightConnector1">
            <a:avLst/>
          </a:prstGeom>
          <a:ln w="25400">
            <a:solidFill>
              <a:srgbClr val="D9D3F0"/>
            </a:solidFill>
          </a:ln>
        </p:spPr>
      </p:cxnSp>
      <p:sp>
        <p:nvSpPr>
          <p:cNvPr id="302" name="Now ring"/>
          <p:cNvSpPr/>
          <p:nvPr/>
        </p:nvSpPr>
        <p:spPr>
          <a:xfrm>
            <a:off x="932688" y="1947672"/>
            <a:ext cx="310896" cy="310896"/>
          </a:xfrm>
          <a:prstGeom prst="ellipse">
            <a:avLst/>
          </a:prstGeom>
          <a:solidFill>
            <a:srgbClr val="FFFFFF"/>
          </a:solidFill>
          <a:ln w="25400">
            <a:solidFill>
              <a:srgbClr val="6D28D9"/>
            </a:solidFill>
          </a:ln>
        </p:spPr>
        <p:txBody>
          <a:bodyPr wrap="square" lIns="0" tIns="0" rIns="0" bIns="0" rtlCol="0" anchor="t">
            <a:noAutofit/>
          </a:bodyPr>
          <a:lstStyle/>
          <a:p>
            <a:endParaRPr lang="en-US" dirty="0"/>
          </a:p>
        </p:txBody>
      </p:sp>
      <p:sp>
        <p:nvSpPr>
          <p:cNvPr id="303" name="Now dot"/>
          <p:cNvSpPr/>
          <p:nvPr/>
        </p:nvSpPr>
        <p:spPr>
          <a:xfrm>
            <a:off x="1024128" y="2039112"/>
            <a:ext cx="128016" cy="128016"/>
          </a:xfrm>
          <a:prstGeom prst="ellipse">
            <a:avLst/>
          </a:prstGeom>
          <a:solidFill>
            <a:srgbClr val="6D28D9"/>
          </a:solidFill>
          <a:ln>
            <a:noFill/>
          </a:ln>
        </p:spPr>
        <p:txBody>
          <a:bodyPr wrap="square" lIns="0" tIns="0" rIns="0" bIns="0" rtlCol="0" anchor="t">
            <a:noAutofit/>
          </a:bodyPr>
          <a:lstStyle/>
          <a:p>
            <a:endParaRPr lang="en-US" dirty="0"/>
          </a:p>
        </p:txBody>
      </p:sp>
      <p:sp>
        <p:nvSpPr>
          <p:cNvPr id="304" name="Later dot"/>
          <p:cNvSpPr/>
          <p:nvPr/>
        </p:nvSpPr>
        <p:spPr>
          <a:xfrm>
            <a:off x="3639312" y="2002536"/>
            <a:ext cx="201168" cy="201168"/>
          </a:xfrm>
          <a:prstGeom prst="ellipse">
            <a:avLst/>
          </a:prstGeom>
          <a:solidFill>
            <a:srgbClr val="FFFFFF"/>
          </a:solidFill>
          <a:ln w="25400">
            <a:solidFill>
              <a:srgbClr val="D9D3F0"/>
            </a:solidFill>
          </a:ln>
        </p:spPr>
        <p:txBody>
          <a:bodyPr wrap="square" lIns="0" tIns="0" rIns="0" bIns="0" rtlCol="0" anchor="t">
            <a:noAutofit/>
          </a:bodyPr>
          <a:lstStyle/>
          <a:p>
            <a:endParaRPr lang="en-US" dirty="0"/>
          </a:p>
        </p:txBody>
      </p:sp>
      <p:sp>
        <p:nvSpPr>
          <p:cNvPr id="305" name="Later dot"/>
          <p:cNvSpPr/>
          <p:nvPr/>
        </p:nvSpPr>
        <p:spPr>
          <a:xfrm>
            <a:off x="6291072" y="2002536"/>
            <a:ext cx="201168" cy="201168"/>
          </a:xfrm>
          <a:prstGeom prst="ellipse">
            <a:avLst/>
          </a:prstGeom>
          <a:solidFill>
            <a:srgbClr val="FFFFFF"/>
          </a:solidFill>
          <a:ln w="25400">
            <a:solidFill>
              <a:srgbClr val="D9D3F0"/>
            </a:solidFill>
          </a:ln>
        </p:spPr>
        <p:txBody>
          <a:bodyPr wrap="square" lIns="0" tIns="0" rIns="0" bIns="0" rtlCol="0" anchor="t">
            <a:noAutofit/>
          </a:bodyPr>
          <a:lstStyle/>
          <a:p>
            <a:endParaRPr lang="en-US" dirty="0"/>
          </a:p>
        </p:txBody>
      </p:sp>
      <p:sp>
        <p:nvSpPr>
          <p:cNvPr id="306" name="Later dot"/>
          <p:cNvSpPr/>
          <p:nvPr/>
        </p:nvSpPr>
        <p:spPr>
          <a:xfrm>
            <a:off x="8942832" y="2002536"/>
            <a:ext cx="201168" cy="201168"/>
          </a:xfrm>
          <a:prstGeom prst="ellipse">
            <a:avLst/>
          </a:prstGeom>
          <a:solidFill>
            <a:srgbClr val="FFFFFF"/>
          </a:solidFill>
          <a:ln w="25400">
            <a:solidFill>
              <a:srgbClr val="D9D3F0"/>
            </a:solidFill>
          </a:ln>
        </p:spPr>
        <p:txBody>
          <a:bodyPr wrap="square" lIns="0" tIns="0" rIns="0" bIns="0" rtlCol="0" anchor="t">
            <a:noAutofit/>
          </a:bodyPr>
          <a:lstStyle/>
          <a:p>
            <a:endParaRPr lang="en-US" dirty="0"/>
          </a:p>
        </p:txBody>
      </p:sp>
      <p:sp>
        <p:nvSpPr>
          <p:cNvPr id="307" name="Shape 307"/>
          <p:cNvSpPr txBox="1"/>
          <p:nvPr/>
        </p:nvSpPr>
        <p:spPr>
          <a:xfrm>
            <a:off x="932688" y="2450592"/>
            <a:ext cx="2377440" cy="173736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1" spc="60" dirty="0">
                <a:solidFill>
                  <a:srgbClr val="6D28D9"/>
                </a:solidFill>
                <a:latin typeface="Calibri"/>
                <a:ea typeface="Calibri"/>
                <a:cs typeface="Calibri"/>
                <a:sym typeface="Calibri"/>
              </a:rPr>
              <a:t>STEP 1 · KIT RELEASE</a:t>
            </a:r>
            <a:endParaRPr lang="en-US" sz="1050" dirty="0"/>
          </a:p>
          <a:p>
            <a:pPr marL="0" indent="0" algn="l">
              <a:spcBef>
                <a:spcPts val="500"/>
              </a:spcBef>
              <a:spcAft>
                <a:spcPts val="0"/>
              </a:spcAft>
              <a:buNone/>
            </a:pPr>
            <a:r>
              <a:rPr lang="en-US" sz="1600" b="1" dirty="0">
                <a:solidFill>
                  <a:srgbClr val="14142B"/>
                </a:solidFill>
                <a:latin typeface="Calibri"/>
                <a:ea typeface="Calibri"/>
                <a:cs typeface="Calibri"/>
                <a:sym typeface="Calibri"/>
              </a:rPr>
              <a:t>Get on the scoreboard</a:t>
            </a:r>
            <a:endParaRPr lang="en-US" sz="1600" dirty="0"/>
          </a:p>
          <a:p>
            <a:pPr marL="0" indent="0" algn="l">
              <a:lnSpc>
                <a:spcPct val="105000"/>
              </a:lnSpc>
              <a:spcBef>
                <a:spcPts val="500"/>
              </a:spcBef>
              <a:spcAft>
                <a:spcPts val="0"/>
              </a:spcAft>
              <a:buNone/>
            </a:pPr>
            <a:r>
              <a:rPr lang="en-US" sz="1250" dirty="0">
                <a:solidFill>
                  <a:srgbClr val="63637E"/>
                </a:solidFill>
                <a:latin typeface="Calibri"/>
                <a:ea typeface="Calibri"/>
                <a:cs typeface="Calibri"/>
                <a:sym typeface="Calibri"/>
              </a:rPr>
              <a:t>Run the 9 public scenarios end to end and publish our first scorecard in the repo.</a:t>
            </a:r>
            <a:endParaRPr lang="en-US" sz="1250" dirty="0"/>
          </a:p>
        </p:txBody>
      </p:sp>
      <p:sp>
        <p:nvSpPr>
          <p:cNvPr id="308" name="Shape 308"/>
          <p:cNvSpPr txBox="1"/>
          <p:nvPr/>
        </p:nvSpPr>
        <p:spPr>
          <a:xfrm>
            <a:off x="3584448" y="2450592"/>
            <a:ext cx="2377440" cy="173736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1" spc="60" dirty="0">
                <a:solidFill>
                  <a:srgbClr val="6D28D9"/>
                </a:solidFill>
                <a:latin typeface="Calibri"/>
                <a:ea typeface="Calibri"/>
                <a:cs typeface="Calibri"/>
                <a:sym typeface="Calibri"/>
              </a:rPr>
              <a:t>STEP 2 · STRESS TEST</a:t>
            </a:r>
            <a:endParaRPr lang="en-US" sz="1050" dirty="0"/>
          </a:p>
          <a:p>
            <a:pPr marL="0" indent="0" algn="l">
              <a:spcBef>
                <a:spcPts val="500"/>
              </a:spcBef>
              <a:spcAft>
                <a:spcPts val="0"/>
              </a:spcAft>
              <a:buNone/>
            </a:pPr>
            <a:r>
              <a:rPr lang="en-US" sz="1600" b="1" dirty="0">
                <a:solidFill>
                  <a:srgbClr val="14142B"/>
                </a:solidFill>
                <a:latin typeface="Calibri"/>
                <a:ea typeface="Calibri"/>
                <a:cs typeface="Calibri"/>
                <a:sym typeface="Calibri"/>
              </a:rPr>
              <a:t>Try to break it</a:t>
            </a:r>
            <a:endParaRPr lang="en-US" sz="1600" dirty="0"/>
          </a:p>
          <a:p>
            <a:pPr marL="0" indent="0" algn="l">
              <a:lnSpc>
                <a:spcPct val="105000"/>
              </a:lnSpc>
              <a:spcBef>
                <a:spcPts val="500"/>
              </a:spcBef>
              <a:spcAft>
                <a:spcPts val="0"/>
              </a:spcAft>
              <a:buNone/>
            </a:pPr>
            <a:r>
              <a:rPr lang="en-US" sz="1250" dirty="0">
                <a:solidFill>
                  <a:srgbClr val="63637E"/>
                </a:solidFill>
                <a:latin typeface="Calibri"/>
                <a:ea typeface="Calibri"/>
                <a:cs typeface="Calibri"/>
                <a:sym typeface="Calibri"/>
              </a:rPr>
              <a:t>A mutator shifts every interrupt across every tool call. Pass bar: zero false claims across all of them.</a:t>
            </a:r>
            <a:endParaRPr lang="en-US" sz="1250" dirty="0"/>
          </a:p>
        </p:txBody>
      </p:sp>
      <p:sp>
        <p:nvSpPr>
          <p:cNvPr id="309" name="Shape 309"/>
          <p:cNvSpPr txBox="1"/>
          <p:nvPr/>
        </p:nvSpPr>
        <p:spPr>
          <a:xfrm>
            <a:off x="6236208" y="2450592"/>
            <a:ext cx="2377440" cy="173736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1" spc="60" dirty="0">
                <a:solidFill>
                  <a:srgbClr val="6D28D9"/>
                </a:solidFill>
                <a:latin typeface="Calibri"/>
                <a:ea typeface="Calibri"/>
                <a:cs typeface="Calibri"/>
                <a:sym typeface="Calibri"/>
              </a:rPr>
              <a:t>STEP 3 · SMARTER CLAIMS</a:t>
            </a:r>
            <a:endParaRPr lang="en-US" sz="1050" dirty="0"/>
          </a:p>
          <a:p>
            <a:pPr marL="0" indent="0" algn="l">
              <a:spcBef>
                <a:spcPts val="500"/>
              </a:spcBef>
              <a:spcAft>
                <a:spcPts val="0"/>
              </a:spcAft>
              <a:buNone/>
            </a:pPr>
            <a:r>
              <a:rPr lang="en-US" sz="1600" b="1" dirty="0">
                <a:solidFill>
                  <a:srgbClr val="14142B"/>
                </a:solidFill>
                <a:latin typeface="Calibri"/>
                <a:ea typeface="Calibri"/>
                <a:cs typeface="Calibri"/>
                <a:sym typeface="Calibri"/>
              </a:rPr>
              <a:t>Catch paraphrases</a:t>
            </a:r>
            <a:endParaRPr lang="en-US" sz="1600" dirty="0"/>
          </a:p>
          <a:p>
            <a:pPr marL="0" indent="0" algn="l">
              <a:lnSpc>
                <a:spcPct val="105000"/>
              </a:lnSpc>
              <a:spcBef>
                <a:spcPts val="500"/>
              </a:spcBef>
              <a:spcAft>
                <a:spcPts val="0"/>
              </a:spcAft>
              <a:buNone/>
            </a:pPr>
            <a:r>
              <a:rPr lang="en-US" sz="1250" dirty="0">
                <a:solidFill>
                  <a:srgbClr val="63637E"/>
                </a:solidFill>
                <a:latin typeface="Calibri"/>
                <a:ea typeface="Calibri"/>
                <a:cs typeface="Calibri"/>
                <a:sym typeface="Calibri"/>
              </a:rPr>
              <a:t>A small classifier behind the verb list, for lines like “you’re all set” or “that’s sorted”.</a:t>
            </a:r>
            <a:endParaRPr lang="en-US" sz="1250" dirty="0"/>
          </a:p>
        </p:txBody>
      </p:sp>
      <p:sp>
        <p:nvSpPr>
          <p:cNvPr id="310" name="Shape 310"/>
          <p:cNvSpPr txBox="1"/>
          <p:nvPr/>
        </p:nvSpPr>
        <p:spPr>
          <a:xfrm>
            <a:off x="8887968" y="2450592"/>
            <a:ext cx="2377440" cy="173736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1" spc="60" dirty="0">
                <a:solidFill>
                  <a:srgbClr val="6D28D9"/>
                </a:solidFill>
                <a:latin typeface="Calibri"/>
                <a:ea typeface="Calibri"/>
                <a:cs typeface="Calibri"/>
                <a:sym typeface="Calibri"/>
              </a:rPr>
              <a:t>STEP 4 · LONGER TERM</a:t>
            </a:r>
            <a:endParaRPr lang="en-US" sz="1050" dirty="0"/>
          </a:p>
          <a:p>
            <a:pPr marL="0" indent="0" algn="l">
              <a:spcBef>
                <a:spcPts val="500"/>
              </a:spcBef>
              <a:spcAft>
                <a:spcPts val="0"/>
              </a:spcAft>
              <a:buNone/>
            </a:pPr>
            <a:r>
              <a:rPr lang="en-US" sz="1600" b="1" dirty="0">
                <a:solidFill>
                  <a:srgbClr val="14142B"/>
                </a:solidFill>
                <a:latin typeface="Calibri"/>
                <a:ea typeface="Calibri"/>
                <a:cs typeface="Calibri"/>
                <a:sym typeface="Calibri"/>
              </a:rPr>
              <a:t>Take it on-device</a:t>
            </a:r>
            <a:endParaRPr lang="en-US" sz="1600" dirty="0"/>
          </a:p>
          <a:p>
            <a:pPr marL="0" indent="0" algn="l">
              <a:lnSpc>
                <a:spcPct val="105000"/>
              </a:lnSpc>
              <a:spcBef>
                <a:spcPts val="500"/>
              </a:spcBef>
              <a:spcAft>
                <a:spcPts val="0"/>
              </a:spcAft>
              <a:buNone/>
            </a:pPr>
            <a:r>
              <a:rPr lang="en-US" sz="1250" dirty="0">
                <a:solidFill>
                  <a:srgbClr val="63637E"/>
                </a:solidFill>
                <a:latin typeface="Calibri"/>
                <a:ea typeface="Calibri"/>
                <a:cs typeface="Calibri"/>
                <a:sym typeface="Calibri"/>
              </a:rPr>
              <a:t>Receipts for what the agent hears and sees, and a checker small enough to run offline on a Galaxy phone.</a:t>
            </a:r>
            <a:endParaRPr lang="en-US" sz="1250" dirty="0"/>
          </a:p>
        </p:txBody>
      </p:sp>
      <p:sp>
        <p:nvSpPr>
          <p:cNvPr id="311" name="Questions card"/>
          <p:cNvSpPr/>
          <p:nvPr/>
        </p:nvSpPr>
        <p:spPr>
          <a:xfrm>
            <a:off x="932688" y="4553712"/>
            <a:ext cx="10332720" cy="1481328"/>
          </a:xfrm>
          <a:prstGeom prst="roundRect">
            <a:avLst>
              <a:gd name="adj" fmla="val 7000"/>
            </a:avLst>
          </a:prstGeom>
          <a:solidFill>
            <a:srgbClr val="F5F3FF"/>
          </a:solidFill>
          <a:ln>
            <a:noFill/>
          </a:ln>
        </p:spPr>
        <p:txBody>
          <a:bodyPr wrap="square" lIns="0" tIns="0" rIns="0" bIns="0" rtlCol="0" anchor="t">
            <a:noAutofit/>
          </a:bodyPr>
          <a:lstStyle/>
          <a:p>
            <a:endParaRPr lang="en-US" dirty="0"/>
          </a:p>
        </p:txBody>
      </p:sp>
      <p:sp>
        <p:nvSpPr>
          <p:cNvPr id="312" name="Shape 312"/>
          <p:cNvSpPr txBox="1"/>
          <p:nvPr/>
        </p:nvSpPr>
        <p:spPr>
          <a:xfrm>
            <a:off x="1188720" y="4718304"/>
            <a:ext cx="9875520" cy="32918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500" b="1" dirty="0">
                <a:solidFill>
                  <a:srgbClr val="14142B"/>
                </a:solidFill>
                <a:latin typeface="Calibri"/>
                <a:ea typeface="Calibri"/>
                <a:cs typeface="Calibri"/>
                <a:sym typeface="Calibri"/>
              </a:rPr>
              <a:t>Questions we’ll answer on day one</a:t>
            </a:r>
            <a:endParaRPr lang="en-US" sz="1500" dirty="0"/>
          </a:p>
        </p:txBody>
      </p:sp>
      <p:sp>
        <p:nvSpPr>
          <p:cNvPr id="313" name="Question dot"/>
          <p:cNvSpPr/>
          <p:nvPr/>
        </p:nvSpPr>
        <p:spPr>
          <a:xfrm>
            <a:off x="1188720" y="5230368"/>
            <a:ext cx="109728" cy="109728"/>
          </a:xfrm>
          <a:prstGeom prst="ellipse">
            <a:avLst/>
          </a:prstGeom>
          <a:solidFill>
            <a:srgbClr val="6D28D9"/>
          </a:solidFill>
          <a:ln>
            <a:noFill/>
          </a:ln>
        </p:spPr>
        <p:txBody>
          <a:bodyPr wrap="square" lIns="0" tIns="0" rIns="0" bIns="0" rtlCol="0" anchor="t">
            <a:noAutofit/>
          </a:bodyPr>
          <a:lstStyle/>
          <a:p>
            <a:endParaRPr lang="en-US" dirty="0"/>
          </a:p>
        </p:txBody>
      </p:sp>
      <p:sp>
        <p:nvSpPr>
          <p:cNvPr id="314" name="Shape 314"/>
          <p:cNvSpPr txBox="1"/>
          <p:nvPr/>
        </p:nvSpPr>
        <p:spPr>
          <a:xfrm>
            <a:off x="1417320" y="5175504"/>
            <a:ext cx="2834640" cy="73152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US" sz="1300" dirty="0">
                <a:solidFill>
                  <a:srgbClr val="14142B"/>
                </a:solidFill>
                <a:latin typeface="Calibri"/>
                <a:ea typeface="Calibri"/>
                <a:cs typeface="Calibri"/>
                <a:sym typeface="Calibri"/>
              </a:rPr>
              <a:t>Does the hidden environment allow external API calls, or do we go fully local?</a:t>
            </a:r>
            <a:endParaRPr lang="en-US" sz="1300" dirty="0"/>
          </a:p>
        </p:txBody>
      </p:sp>
      <p:sp>
        <p:nvSpPr>
          <p:cNvPr id="315" name="Question dot"/>
          <p:cNvSpPr/>
          <p:nvPr/>
        </p:nvSpPr>
        <p:spPr>
          <a:xfrm>
            <a:off x="4526280" y="5230368"/>
            <a:ext cx="109728" cy="109728"/>
          </a:xfrm>
          <a:prstGeom prst="ellipse">
            <a:avLst/>
          </a:prstGeom>
          <a:solidFill>
            <a:srgbClr val="6D28D9"/>
          </a:solidFill>
          <a:ln>
            <a:noFill/>
          </a:ln>
        </p:spPr>
        <p:txBody>
          <a:bodyPr wrap="square" lIns="0" tIns="0" rIns="0" bIns="0" rtlCol="0" anchor="t">
            <a:noAutofit/>
          </a:bodyPr>
          <a:lstStyle/>
          <a:p>
            <a:endParaRPr lang="en-US" dirty="0"/>
          </a:p>
        </p:txBody>
      </p:sp>
      <p:sp>
        <p:nvSpPr>
          <p:cNvPr id="316" name="Shape 316"/>
          <p:cNvSpPr txBox="1"/>
          <p:nvPr/>
        </p:nvSpPr>
        <p:spPr>
          <a:xfrm>
            <a:off x="4754880" y="5175504"/>
            <a:ext cx="2834640" cy="73152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US" sz="1300" dirty="0">
                <a:solidFill>
                  <a:srgbClr val="14142B"/>
                </a:solidFill>
                <a:latin typeface="Calibri"/>
                <a:ea typeface="Calibri"/>
                <a:cs typeface="Calibri"/>
                <a:sym typeface="Calibri"/>
              </a:rPr>
              <a:t>Does the virtual clock charge us for our own compute time?</a:t>
            </a:r>
            <a:endParaRPr lang="en-US" sz="1300" dirty="0"/>
          </a:p>
        </p:txBody>
      </p:sp>
      <p:sp>
        <p:nvSpPr>
          <p:cNvPr id="317" name="Question dot"/>
          <p:cNvSpPr/>
          <p:nvPr/>
        </p:nvSpPr>
        <p:spPr>
          <a:xfrm>
            <a:off x="7863840" y="5230368"/>
            <a:ext cx="109728" cy="109728"/>
          </a:xfrm>
          <a:prstGeom prst="ellipse">
            <a:avLst/>
          </a:prstGeom>
          <a:solidFill>
            <a:srgbClr val="6D28D9"/>
          </a:solidFill>
          <a:ln>
            <a:noFill/>
          </a:ln>
        </p:spPr>
        <p:txBody>
          <a:bodyPr wrap="square" lIns="0" tIns="0" rIns="0" bIns="0" rtlCol="0" anchor="t">
            <a:noAutofit/>
          </a:bodyPr>
          <a:lstStyle/>
          <a:p>
            <a:endParaRPr lang="en-US" dirty="0"/>
          </a:p>
        </p:txBody>
      </p:sp>
      <p:sp>
        <p:nvSpPr>
          <p:cNvPr id="318" name="Shape 318"/>
          <p:cNvSpPr txBox="1"/>
          <p:nvPr/>
        </p:nvSpPr>
        <p:spPr>
          <a:xfrm>
            <a:off x="8092440" y="5175504"/>
            <a:ext cx="2834640" cy="73152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US" sz="1300" dirty="0">
                <a:solidFill>
                  <a:srgbClr val="14142B"/>
                </a:solidFill>
                <a:latin typeface="Calibri"/>
                <a:ea typeface="Calibri"/>
                <a:cs typeface="Calibri"/>
                <a:sym typeface="Calibri"/>
              </a:rPr>
              <a:t>Which tools in the unseen manifests change state?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Brownie points</a:t>
            </a:r>
            <a:endParaRPr sz="4400" b="1" dirty="0">
              <a:solidFill>
                <a:srgbClr val="704EA6"/>
              </a:solidFill>
            </a:endParaRPr>
          </a:p>
        </p:txBody>
      </p:sp>
      <p:sp>
        <p:nvSpPr>
          <p:cNvPr id="301" name="Shape 301"/>
          <p:cNvSpPr txBox="1"/>
          <p:nvPr/>
        </p:nvSpPr>
        <p:spPr>
          <a:xfrm>
            <a:off x="932688" y="1554480"/>
            <a:ext cx="10332720" cy="41148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2000" b="1" dirty="0">
                <a:solidFill>
                  <a:srgbClr val="14142B"/>
                </a:solidFill>
                <a:latin typeface="Calibri"/>
                <a:ea typeface="Calibri"/>
                <a:cs typeface="Calibri"/>
                <a:sym typeface="Calibri"/>
              </a:rPr>
              <a:t>Same request, same timeout, two very different endings.</a:t>
            </a:r>
            <a:endParaRPr lang="en-US" sz="2000" dirty="0"/>
          </a:p>
        </p:txBody>
      </p:sp>
      <p:sp>
        <p:nvSpPr>
          <p:cNvPr id="302" name="Typical agent"/>
          <p:cNvSpPr/>
          <p:nvPr/>
        </p:nvSpPr>
        <p:spPr>
          <a:xfrm>
            <a:off x="932688" y="2103120"/>
            <a:ext cx="5029200" cy="2514600"/>
          </a:xfrm>
          <a:prstGeom prst="roundRect">
            <a:avLst>
              <a:gd name="adj" fmla="val 6000"/>
            </a:avLst>
          </a:prstGeom>
          <a:solidFill>
            <a:srgbClr val="FFFFFF"/>
          </a:solidFill>
          <a:ln w="12700">
            <a:solidFill>
              <a:srgbClr val="D9D3F0"/>
            </a:solidFill>
          </a:ln>
        </p:spPr>
        <p:txBody>
          <a:bodyPr wrap="square" lIns="237744" tIns="182880" rIns="201168" bIns="109728" rtlCol="0" anchor="t">
            <a:noAutofit/>
          </a:bodyPr>
          <a:lstStyle/>
          <a:p>
            <a:pPr marL="0" indent="0" algn="l">
              <a:spcBef>
                <a:spcPts val="0"/>
              </a:spcBef>
              <a:spcAft>
                <a:spcPts val="900"/>
              </a:spcAft>
              <a:buNone/>
            </a:pPr>
            <a:r>
              <a:rPr lang="en-US" sz="1300" b="1" dirty="0">
                <a:solidFill>
                  <a:srgbClr val="63637E"/>
                </a:solidFill>
                <a:latin typeface="Calibri"/>
                <a:ea typeface="Calibri"/>
                <a:cs typeface="Calibri"/>
                <a:sym typeface="Calibri"/>
              </a:rPr>
              <a:t>A typical voice agent</a:t>
            </a:r>
            <a:endParaRPr lang="en-US" sz="1300" dirty="0"/>
          </a:p>
          <a:p>
            <a:pPr marL="0" indent="0" algn="l">
              <a:lnSpc>
                <a:spcPct val="100000"/>
              </a:lnSpc>
              <a:spcBef>
                <a:spcPts val="0"/>
              </a:spcBef>
              <a:spcAft>
                <a:spcPts val="600"/>
              </a:spcAft>
              <a:buNone/>
            </a:pPr>
            <a:r>
              <a:rPr lang="en-US" sz="1150" b="1" dirty="0">
                <a:solidFill>
                  <a:srgbClr val="63637E"/>
                </a:solidFill>
                <a:latin typeface="Calibri"/>
                <a:ea typeface="Calibri"/>
                <a:cs typeface="Calibri"/>
                <a:sym typeface="Calibri"/>
              </a:rPr>
              <a:t>USER   </a:t>
            </a:r>
            <a:r>
              <a:rPr lang="en-US" sz="1400" dirty="0">
                <a:solidFill>
                  <a:srgbClr val="14142B"/>
                </a:solidFill>
                <a:latin typeface="Calibri"/>
                <a:ea typeface="Calibri"/>
                <a:cs typeface="Calibri"/>
                <a:sym typeface="Calibri"/>
              </a:rPr>
              <a:t>“Book the 6:40 to Pune.”</a:t>
            </a:r>
            <a:endParaRPr lang="en-US" sz="1400" dirty="0"/>
          </a:p>
          <a:p>
            <a:pPr marL="0" indent="0" algn="l">
              <a:lnSpc>
                <a:spcPct val="100000"/>
              </a:lnSpc>
              <a:spcBef>
                <a:spcPts val="0"/>
              </a:spcBef>
              <a:spcAft>
                <a:spcPts val="600"/>
              </a:spcAft>
              <a:buNone/>
            </a:pPr>
            <a:r>
              <a:rPr lang="en-US" sz="1150" b="1" dirty="0">
                <a:solidFill>
                  <a:srgbClr val="63637E"/>
                </a:solidFill>
                <a:latin typeface="Calibri"/>
                <a:ea typeface="Calibri"/>
                <a:cs typeface="Calibri"/>
                <a:sym typeface="Calibri"/>
              </a:rPr>
              <a:t>AGENT   </a:t>
            </a:r>
            <a:r>
              <a:rPr lang="en-US" sz="1400" dirty="0">
                <a:solidFill>
                  <a:srgbClr val="14142B"/>
                </a:solidFill>
                <a:latin typeface="Calibri"/>
                <a:ea typeface="Calibri"/>
                <a:cs typeface="Calibri"/>
                <a:sym typeface="Calibri"/>
              </a:rPr>
              <a:t>“Done! You’re booked.”</a:t>
            </a:r>
            <a:endParaRPr lang="en-US" sz="1400" dirty="0"/>
          </a:p>
          <a:p>
            <a:pPr marL="0" indent="0" algn="l">
              <a:spcBef>
                <a:spcPts val="0"/>
              </a:spcBef>
              <a:spcAft>
                <a:spcPts val="600"/>
              </a:spcAft>
              <a:buNone/>
            </a:pPr>
            <a:r>
              <a:rPr lang="en-US" sz="1200" i="1" dirty="0">
                <a:solidFill>
                  <a:srgbClr val="63637E"/>
                </a:solidFill>
                <a:latin typeface="Calibri"/>
                <a:ea typeface="Calibri"/>
                <a:cs typeface="Calibri"/>
                <a:sym typeface="Calibri"/>
              </a:rPr>
              <a:t>said before the booking API had answered</a:t>
            </a:r>
            <a:endParaRPr lang="en-US" sz="1200" dirty="0"/>
          </a:p>
          <a:p>
            <a:pPr marL="0" indent="0" algn="l">
              <a:spcBef>
                <a:spcPts val="0"/>
              </a:spcBef>
              <a:spcAft>
                <a:spcPts val="600"/>
              </a:spcAft>
              <a:buNone/>
            </a:pPr>
            <a:r>
              <a:rPr lang="en-US" sz="1200" i="1" dirty="0">
                <a:solidFill>
                  <a:srgbClr val="63637E"/>
                </a:solidFill>
                <a:latin typeface="Calibri"/>
                <a:ea typeface="Calibri"/>
                <a:cs typeface="Calibri"/>
                <a:sym typeface="Calibri"/>
              </a:rPr>
              <a:t>booking API times out</a:t>
            </a:r>
            <a:endParaRPr lang="en-US" sz="1200" dirty="0"/>
          </a:p>
          <a:p>
            <a:pPr marL="0" indent="0" algn="l">
              <a:lnSpc>
                <a:spcPct val="100000"/>
              </a:lnSpc>
              <a:spcBef>
                <a:spcPts val="0"/>
              </a:spcBef>
              <a:spcAft>
                <a:spcPts val="600"/>
              </a:spcAft>
              <a:buNone/>
            </a:pPr>
            <a:r>
              <a:rPr lang="en-US" sz="1150" b="1" dirty="0">
                <a:solidFill>
                  <a:srgbClr val="63637E"/>
                </a:solidFill>
                <a:latin typeface="Calibri"/>
                <a:ea typeface="Calibri"/>
                <a:cs typeface="Calibri"/>
                <a:sym typeface="Calibri"/>
              </a:rPr>
              <a:t>AGENT   </a:t>
            </a:r>
            <a:r>
              <a:rPr lang="en-US" sz="1400" dirty="0">
                <a:solidFill>
                  <a:srgbClr val="63637E"/>
                </a:solidFill>
                <a:latin typeface="Calibri"/>
                <a:ea typeface="Calibri"/>
                <a:cs typeface="Calibri"/>
                <a:sym typeface="Calibri"/>
              </a:rPr>
              <a:t>(silence)</a:t>
            </a:r>
            <a:endParaRPr lang="en-US" sz="1400" dirty="0"/>
          </a:p>
          <a:p>
            <a:pPr marL="0" indent="0" algn="l">
              <a:spcBef>
                <a:spcPts val="0"/>
              </a:spcBef>
              <a:spcAft>
                <a:spcPts val="600"/>
              </a:spcAft>
              <a:buNone/>
            </a:pPr>
            <a:r>
              <a:rPr lang="en-US" sz="1200" i="1" dirty="0">
                <a:solidFill>
                  <a:srgbClr val="63637E"/>
                </a:solidFill>
                <a:latin typeface="Calibri"/>
                <a:ea typeface="Calibri"/>
                <a:cs typeface="Calibri"/>
                <a:sym typeface="Calibri"/>
              </a:rPr>
              <a:t>No ticket exists. The user finds out at the airport.</a:t>
            </a:r>
            <a:endParaRPr lang="en-US" sz="1200" dirty="0"/>
          </a:p>
        </p:txBody>
      </p:sp>
      <p:sp>
        <p:nvSpPr>
          <p:cNvPr id="303" name="Our agent"/>
          <p:cNvSpPr/>
          <p:nvPr/>
        </p:nvSpPr>
        <p:spPr>
          <a:xfrm>
            <a:off x="6236208" y="2103120"/>
            <a:ext cx="5029200" cy="2514600"/>
          </a:xfrm>
          <a:prstGeom prst="roundRect">
            <a:avLst>
              <a:gd name="adj" fmla="val 6000"/>
            </a:avLst>
          </a:prstGeom>
          <a:solidFill>
            <a:srgbClr val="F5F3FF"/>
          </a:solidFill>
          <a:ln w="15875">
            <a:solidFill>
              <a:srgbClr val="6D28D9"/>
            </a:solidFill>
          </a:ln>
        </p:spPr>
        <p:txBody>
          <a:bodyPr wrap="square" lIns="237744" tIns="182880" rIns="201168" bIns="109728" rtlCol="0" anchor="t">
            <a:noAutofit/>
          </a:bodyPr>
          <a:lstStyle/>
          <a:p>
            <a:pPr marL="0" indent="0" algn="l">
              <a:spcBef>
                <a:spcPts val="0"/>
              </a:spcBef>
              <a:spcAft>
                <a:spcPts val="900"/>
              </a:spcAft>
              <a:buNone/>
            </a:pPr>
            <a:r>
              <a:rPr lang="en-US" sz="1300" b="1" dirty="0">
                <a:solidFill>
                  <a:srgbClr val="6D28D9"/>
                </a:solidFill>
                <a:latin typeface="Calibri"/>
                <a:ea typeface="Calibri"/>
                <a:cs typeface="Calibri"/>
                <a:sym typeface="Calibri"/>
              </a:rPr>
              <a:t>Truth-Gated Voice</a:t>
            </a:r>
            <a:endParaRPr lang="en-US" sz="1300" dirty="0"/>
          </a:p>
          <a:p>
            <a:pPr marL="0" indent="0" algn="l">
              <a:lnSpc>
                <a:spcPct val="100000"/>
              </a:lnSpc>
              <a:spcBef>
                <a:spcPts val="0"/>
              </a:spcBef>
              <a:spcAft>
                <a:spcPts val="600"/>
              </a:spcAft>
              <a:buNone/>
            </a:pPr>
            <a:r>
              <a:rPr lang="en-US" sz="1150" b="1" dirty="0">
                <a:solidFill>
                  <a:srgbClr val="63637E"/>
                </a:solidFill>
                <a:latin typeface="Calibri"/>
                <a:ea typeface="Calibri"/>
                <a:cs typeface="Calibri"/>
                <a:sym typeface="Calibri"/>
              </a:rPr>
              <a:t>USER   </a:t>
            </a:r>
            <a:r>
              <a:rPr lang="en-US" sz="1400" dirty="0">
                <a:solidFill>
                  <a:srgbClr val="14142B"/>
                </a:solidFill>
                <a:latin typeface="Calibri"/>
                <a:ea typeface="Calibri"/>
                <a:cs typeface="Calibri"/>
                <a:sym typeface="Calibri"/>
              </a:rPr>
              <a:t>“Book the 6:40 to Pune.”</a:t>
            </a:r>
            <a:endParaRPr lang="en-US" sz="1400" dirty="0"/>
          </a:p>
          <a:p>
            <a:pPr marL="0" indent="0" algn="l">
              <a:lnSpc>
                <a:spcPct val="100000"/>
              </a:lnSpc>
              <a:spcBef>
                <a:spcPts val="0"/>
              </a:spcBef>
              <a:spcAft>
                <a:spcPts val="600"/>
              </a:spcAft>
              <a:buNone/>
            </a:pPr>
            <a:r>
              <a:rPr lang="en-US" sz="1150" b="1" dirty="0">
                <a:solidFill>
                  <a:srgbClr val="63637E"/>
                </a:solidFill>
                <a:latin typeface="Calibri"/>
                <a:ea typeface="Calibri"/>
                <a:cs typeface="Calibri"/>
                <a:sym typeface="Calibri"/>
              </a:rPr>
              <a:t>AGENT   </a:t>
            </a:r>
            <a:r>
              <a:rPr lang="en-US" sz="1400" dirty="0">
                <a:solidFill>
                  <a:srgbClr val="14142B"/>
                </a:solidFill>
                <a:latin typeface="Calibri"/>
                <a:ea typeface="Calibri"/>
                <a:cs typeface="Calibri"/>
                <a:sym typeface="Calibri"/>
              </a:rPr>
              <a:t>“Booking the 6:40 to Pune now.”</a:t>
            </a:r>
            <a:endParaRPr lang="en-US" sz="1400" dirty="0"/>
          </a:p>
          <a:p>
            <a:pPr marL="0" indent="0" algn="l">
              <a:spcBef>
                <a:spcPts val="0"/>
              </a:spcBef>
              <a:spcAft>
                <a:spcPts val="600"/>
              </a:spcAft>
              <a:buNone/>
            </a:pPr>
            <a:r>
              <a:rPr lang="en-US" sz="1200" i="1" dirty="0">
                <a:solidFill>
                  <a:srgbClr val="63637E"/>
                </a:solidFill>
                <a:latin typeface="Calibri"/>
                <a:ea typeface="Calibri"/>
                <a:cs typeface="Calibri"/>
                <a:sym typeface="Calibri"/>
              </a:rPr>
              <a:t>booking API times out</a:t>
            </a:r>
            <a:endParaRPr lang="en-US" sz="1200" dirty="0"/>
          </a:p>
          <a:p>
            <a:pPr marL="0" indent="0" algn="l">
              <a:lnSpc>
                <a:spcPct val="100000"/>
              </a:lnSpc>
              <a:spcBef>
                <a:spcPts val="0"/>
              </a:spcBef>
              <a:spcAft>
                <a:spcPts val="600"/>
              </a:spcAft>
              <a:buNone/>
            </a:pPr>
            <a:r>
              <a:rPr lang="en-US" sz="1150" b="1" dirty="0">
                <a:solidFill>
                  <a:srgbClr val="63637E"/>
                </a:solidFill>
                <a:latin typeface="Calibri"/>
                <a:ea typeface="Calibri"/>
                <a:cs typeface="Calibri"/>
                <a:sym typeface="Calibri"/>
              </a:rPr>
              <a:t>AGENT   </a:t>
            </a:r>
            <a:r>
              <a:rPr lang="en-US" sz="1400" dirty="0">
                <a:solidFill>
                  <a:srgbClr val="14142B"/>
                </a:solidFill>
                <a:latin typeface="Calibri"/>
                <a:ea typeface="Calibri"/>
                <a:cs typeface="Calibri"/>
                <a:sym typeface="Calibri"/>
              </a:rPr>
              <a:t>“The airline’s system is slow, trying once more.”</a:t>
            </a:r>
            <a:endParaRPr lang="en-US" sz="1400" dirty="0"/>
          </a:p>
          <a:p>
            <a:pPr marL="0" indent="0" algn="l">
              <a:spcBef>
                <a:spcPts val="0"/>
              </a:spcBef>
              <a:spcAft>
                <a:spcPts val="600"/>
              </a:spcAft>
              <a:buNone/>
            </a:pPr>
            <a:r>
              <a:rPr lang="en-US" sz="1200" i="1" dirty="0">
                <a:solidFill>
                  <a:srgbClr val="63637E"/>
                </a:solidFill>
                <a:latin typeface="Calibri"/>
                <a:ea typeface="Calibri"/>
                <a:cs typeface="Calibri"/>
                <a:sym typeface="Calibri"/>
              </a:rPr>
              <a:t>receipt: success</a:t>
            </a:r>
            <a:endParaRPr lang="en-US" sz="1200" dirty="0"/>
          </a:p>
          <a:p>
            <a:pPr marL="0" indent="0" algn="l">
              <a:lnSpc>
                <a:spcPct val="100000"/>
              </a:lnSpc>
              <a:spcBef>
                <a:spcPts val="0"/>
              </a:spcBef>
              <a:spcAft>
                <a:spcPts val="600"/>
              </a:spcAft>
              <a:buNone/>
            </a:pPr>
            <a:r>
              <a:rPr lang="en-US" sz="1150" b="1" dirty="0">
                <a:solidFill>
                  <a:srgbClr val="63637E"/>
                </a:solidFill>
                <a:latin typeface="Calibri"/>
                <a:ea typeface="Calibri"/>
                <a:cs typeface="Calibri"/>
                <a:sym typeface="Calibri"/>
              </a:rPr>
              <a:t>AGENT   </a:t>
            </a:r>
            <a:r>
              <a:rPr lang="en-US" sz="1400" dirty="0">
                <a:solidFill>
                  <a:srgbClr val="14142B"/>
                </a:solidFill>
                <a:latin typeface="Calibri"/>
                <a:ea typeface="Calibri"/>
                <a:cs typeface="Calibri"/>
                <a:sym typeface="Calibri"/>
              </a:rPr>
              <a:t>“Done. You’re on the 6:40 to Pune.”</a:t>
            </a:r>
            <a:endParaRPr lang="en-US" sz="1400" dirty="0"/>
          </a:p>
        </p:txBody>
      </p:sp>
      <p:sp>
        <p:nvSpPr>
          <p:cNvPr id="304" name="Diff dot"/>
          <p:cNvSpPr/>
          <p:nvPr/>
        </p:nvSpPr>
        <p:spPr>
          <a:xfrm>
            <a:off x="932688" y="4956048"/>
            <a:ext cx="109728" cy="109728"/>
          </a:xfrm>
          <a:prstGeom prst="ellipse">
            <a:avLst/>
          </a:prstGeom>
          <a:solidFill>
            <a:srgbClr val="6D28D9"/>
          </a:solidFill>
          <a:ln>
            <a:noFill/>
          </a:ln>
        </p:spPr>
        <p:txBody>
          <a:bodyPr wrap="square" lIns="0" tIns="0" rIns="0" bIns="0" rtlCol="0" anchor="t">
            <a:noAutofit/>
          </a:bodyPr>
          <a:lstStyle/>
          <a:p>
            <a:endParaRPr lang="en-US" dirty="0"/>
          </a:p>
        </p:txBody>
      </p:sp>
      <p:sp>
        <p:nvSpPr>
          <p:cNvPr id="305" name="Shape 305"/>
          <p:cNvSpPr txBox="1"/>
          <p:nvPr/>
        </p:nvSpPr>
        <p:spPr>
          <a:xfrm>
            <a:off x="1152144" y="4873752"/>
            <a:ext cx="3017520" cy="1371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400" b="1" dirty="0">
                <a:solidFill>
                  <a:srgbClr val="14142B"/>
                </a:solidFill>
                <a:latin typeface="Calibri"/>
                <a:ea typeface="Calibri"/>
                <a:cs typeface="Calibri"/>
                <a:sym typeface="Calibri"/>
              </a:rPr>
              <a:t>Points where others leak</a:t>
            </a:r>
            <a:endParaRPr lang="en-US" sz="1400" dirty="0"/>
          </a:p>
          <a:p>
            <a:pPr marL="0" indent="0" algn="l">
              <a:lnSpc>
                <a:spcPct val="105000"/>
              </a:lnSpc>
              <a:spcBef>
                <a:spcPts val="300"/>
              </a:spcBef>
              <a:spcAft>
                <a:spcPts val="0"/>
              </a:spcAft>
              <a:buNone/>
            </a:pPr>
            <a:r>
              <a:rPr lang="en-US" sz="1200" dirty="0">
                <a:solidFill>
                  <a:srgbClr val="63637E"/>
                </a:solidFill>
                <a:latin typeface="Calibri"/>
                <a:ea typeface="Calibri"/>
                <a:cs typeface="Calibri"/>
                <a:sym typeface="Calibri"/>
              </a:rPr>
              <a:t>The quality multiplier (0.8× to 1.2×) touches every scenario, and the rubric names false completion claims directly.</a:t>
            </a:r>
            <a:endParaRPr lang="en-US" sz="1200" dirty="0"/>
          </a:p>
        </p:txBody>
      </p:sp>
      <p:sp>
        <p:nvSpPr>
          <p:cNvPr id="306" name="Diff dot"/>
          <p:cNvSpPr/>
          <p:nvPr/>
        </p:nvSpPr>
        <p:spPr>
          <a:xfrm>
            <a:off x="4480560" y="4956048"/>
            <a:ext cx="109728" cy="109728"/>
          </a:xfrm>
          <a:prstGeom prst="ellipse">
            <a:avLst/>
          </a:prstGeom>
          <a:solidFill>
            <a:srgbClr val="6D28D9"/>
          </a:solidFill>
          <a:ln>
            <a:noFill/>
          </a:ln>
        </p:spPr>
        <p:txBody>
          <a:bodyPr wrap="square" lIns="0" tIns="0" rIns="0" bIns="0" rtlCol="0" anchor="t">
            <a:noAutofit/>
          </a:bodyPr>
          <a:lstStyle/>
          <a:p>
            <a:endParaRPr lang="en-US" dirty="0"/>
          </a:p>
        </p:txBody>
      </p:sp>
      <p:sp>
        <p:nvSpPr>
          <p:cNvPr id="307" name="Shape 307"/>
          <p:cNvSpPr txBox="1"/>
          <p:nvPr/>
        </p:nvSpPr>
        <p:spPr>
          <a:xfrm>
            <a:off x="4700016" y="4873752"/>
            <a:ext cx="3017520" cy="1371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400" b="1" dirty="0">
                <a:solidFill>
                  <a:srgbClr val="14142B"/>
                </a:solidFill>
                <a:latin typeface="Calibri"/>
                <a:ea typeface="Calibri"/>
                <a:cs typeface="Calibri"/>
                <a:sym typeface="Calibri"/>
              </a:rPr>
              <a:t>Tools we’ve never seen</a:t>
            </a:r>
            <a:endParaRPr lang="en-US" sz="1400" dirty="0"/>
          </a:p>
          <a:p>
            <a:pPr marL="0" indent="0" algn="l">
              <a:lnSpc>
                <a:spcPct val="105000"/>
              </a:lnSpc>
              <a:spcBef>
                <a:spcPts val="300"/>
              </a:spcBef>
              <a:spcAft>
                <a:spcPts val="0"/>
              </a:spcAft>
              <a:buNone/>
            </a:pPr>
            <a:r>
              <a:rPr lang="en-US" sz="1200" dirty="0">
                <a:solidFill>
                  <a:srgbClr val="63637E"/>
                </a:solidFill>
                <a:latin typeface="Calibri"/>
                <a:ea typeface="Calibri"/>
                <a:cs typeface="Calibri"/>
                <a:sym typeface="Calibri"/>
              </a:rPr>
              <a:t>The gate reads each tool’s manifest, so unseen tools get the same protection with no new code.</a:t>
            </a:r>
            <a:endParaRPr lang="en-US" sz="1200" dirty="0"/>
          </a:p>
        </p:txBody>
      </p:sp>
      <p:sp>
        <p:nvSpPr>
          <p:cNvPr id="308" name="Diff dot"/>
          <p:cNvSpPr/>
          <p:nvPr/>
        </p:nvSpPr>
        <p:spPr>
          <a:xfrm>
            <a:off x="8019288" y="4956048"/>
            <a:ext cx="109728" cy="109728"/>
          </a:xfrm>
          <a:prstGeom prst="ellipse">
            <a:avLst/>
          </a:prstGeom>
          <a:solidFill>
            <a:srgbClr val="6D28D9"/>
          </a:solidFill>
          <a:ln>
            <a:noFill/>
          </a:ln>
        </p:spPr>
        <p:txBody>
          <a:bodyPr wrap="square" lIns="0" tIns="0" rIns="0" bIns="0" rtlCol="0" anchor="t">
            <a:noAutofit/>
          </a:bodyPr>
          <a:lstStyle/>
          <a:p>
            <a:endParaRPr lang="en-US" dirty="0"/>
          </a:p>
        </p:txBody>
      </p:sp>
      <p:sp>
        <p:nvSpPr>
          <p:cNvPr id="309" name="Shape 309"/>
          <p:cNvSpPr txBox="1"/>
          <p:nvPr/>
        </p:nvSpPr>
        <p:spPr>
          <a:xfrm>
            <a:off x="8238744" y="4873752"/>
            <a:ext cx="3017520" cy="1371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400" b="1" dirty="0">
                <a:solidFill>
                  <a:srgbClr val="14142B"/>
                </a:solidFill>
                <a:latin typeface="Calibri"/>
                <a:ea typeface="Calibri"/>
                <a:cs typeface="Calibri"/>
                <a:sym typeface="Calibri"/>
              </a:rPr>
              <a:t>Faults become honest moments</a:t>
            </a:r>
            <a:endParaRPr lang="en-US" sz="1400" dirty="0"/>
          </a:p>
          <a:p>
            <a:pPr marL="0" indent="0" algn="l">
              <a:lnSpc>
                <a:spcPct val="105000"/>
              </a:lnSpc>
              <a:spcBef>
                <a:spcPts val="300"/>
              </a:spcBef>
              <a:spcAft>
                <a:spcPts val="0"/>
              </a:spcAft>
              <a:buNone/>
            </a:pPr>
            <a:r>
              <a:rPr lang="en-US" sz="1200" dirty="0">
                <a:solidFill>
                  <a:srgbClr val="63637E"/>
                </a:solidFill>
                <a:latin typeface="Calibri"/>
                <a:ea typeface="Calibri"/>
                <a:cs typeface="Calibri"/>
                <a:sym typeface="Calibri"/>
              </a:rPr>
              <a:t>Injected timeouts are narrated, not hidden. Truthfulness is literally part of the score.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Checklist- Updated on Public GitHub</a:t>
            </a:r>
            <a:endParaRPr/>
          </a:p>
        </p:txBody>
      </p:sp>
      <p:sp>
        <p:nvSpPr>
          <p:cNvPr id="301" name="Checklist row"/>
          <p:cNvSpPr/>
          <p:nvPr/>
        </p:nvSpPr>
        <p:spPr>
          <a:xfrm>
            <a:off x="932688" y="1828800"/>
            <a:ext cx="10332720" cy="749808"/>
          </a:xfrm>
          <a:prstGeom prst="roundRect">
            <a:avLst>
              <a:gd name="adj" fmla="val 14000"/>
            </a:avLst>
          </a:prstGeom>
          <a:solidFill>
            <a:srgbClr val="F5F3FF"/>
          </a:solidFill>
          <a:ln>
            <a:noFill/>
          </a:ln>
        </p:spPr>
        <p:txBody>
          <a:bodyPr wrap="square" lIns="0" tIns="0" rIns="0" bIns="0" rtlCol="0" anchor="t">
            <a:noAutofit/>
          </a:bodyPr>
          <a:lstStyle/>
          <a:p>
            <a:endParaRPr lang="en-US" dirty="0"/>
          </a:p>
        </p:txBody>
      </p:sp>
      <p:sp>
        <p:nvSpPr>
          <p:cNvPr id="302" name="Checkbox"/>
          <p:cNvSpPr/>
          <p:nvPr/>
        </p:nvSpPr>
        <p:spPr>
          <a:xfrm>
            <a:off x="1207008" y="2048256"/>
            <a:ext cx="310896" cy="310896"/>
          </a:xfrm>
          <a:prstGeom prst="roundRect">
            <a:avLst>
              <a:gd name="adj" fmla="val 18000"/>
            </a:avLst>
          </a:prstGeom>
          <a:solidFill>
            <a:srgbClr val="FFFFFF"/>
          </a:solidFill>
          <a:ln w="19050">
            <a:solidFill>
              <a:srgbClr val="6D28D9"/>
            </a:solidFill>
          </a:ln>
        </p:spPr>
        <p:txBody>
          <a:bodyPr wrap="square" lIns="0" tIns="0" rIns="0" bIns="0" rtlCol="0" anchor="t">
            <a:noAutofit/>
          </a:bodyPr>
          <a:lstStyle/>
          <a:p>
            <a:endParaRPr lang="en-US" dirty="0"/>
          </a:p>
        </p:txBody>
      </p:sp>
      <p:sp>
        <p:nvSpPr>
          <p:cNvPr id="303" name="Shape 303"/>
          <p:cNvSpPr txBox="1"/>
          <p:nvPr/>
        </p:nvSpPr>
        <p:spPr>
          <a:xfrm>
            <a:off x="1755648" y="1828800"/>
            <a:ext cx="9326880" cy="7498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2000" dirty="0">
                <a:solidFill>
                  <a:srgbClr val="14142B"/>
                </a:solidFill>
                <a:latin typeface="Calibri"/>
                <a:ea typeface="Calibri"/>
                <a:cs typeface="Calibri"/>
                <a:sym typeface="Calibri"/>
              </a:rPr>
              <a:t>Working prototype code — public or shared GitHub repo</a:t>
            </a:r>
            <a:r>
              <a:rPr lang="en-US" sz="2000" dirty="0">
                <a:solidFill>
                  <a:srgbClr val="63637E"/>
                </a:solidFill>
                <a:latin typeface="Calibri"/>
                <a:ea typeface="Calibri"/>
                <a:cs typeface="Calibri"/>
                <a:sym typeface="Calibri"/>
              </a:rPr>
              <a:t> </a:t>
            </a:r>
            <a:endParaRPr lang="en-US" sz="2000" dirty="0"/>
          </a:p>
        </p:txBody>
      </p:sp>
      <p:sp>
        <p:nvSpPr>
          <p:cNvPr id="304" name="Checklist row"/>
          <p:cNvSpPr/>
          <p:nvPr/>
        </p:nvSpPr>
        <p:spPr>
          <a:xfrm>
            <a:off x="932688" y="2779776"/>
            <a:ext cx="10332720" cy="749808"/>
          </a:xfrm>
          <a:prstGeom prst="roundRect">
            <a:avLst>
              <a:gd name="adj" fmla="val 14000"/>
            </a:avLst>
          </a:prstGeom>
          <a:solidFill>
            <a:srgbClr val="F5F3FF"/>
          </a:solidFill>
          <a:ln>
            <a:noFill/>
          </a:ln>
        </p:spPr>
        <p:txBody>
          <a:bodyPr wrap="square" lIns="0" tIns="0" rIns="0" bIns="0" rtlCol="0" anchor="t">
            <a:noAutofit/>
          </a:bodyPr>
          <a:lstStyle/>
          <a:p>
            <a:endParaRPr lang="en-US" dirty="0"/>
          </a:p>
        </p:txBody>
      </p:sp>
      <p:sp>
        <p:nvSpPr>
          <p:cNvPr id="305" name="Checkbox"/>
          <p:cNvSpPr/>
          <p:nvPr/>
        </p:nvSpPr>
        <p:spPr>
          <a:xfrm>
            <a:off x="1207008" y="2999232"/>
            <a:ext cx="310896" cy="310896"/>
          </a:xfrm>
          <a:prstGeom prst="roundRect">
            <a:avLst>
              <a:gd name="adj" fmla="val 18000"/>
            </a:avLst>
          </a:prstGeom>
          <a:solidFill>
            <a:srgbClr val="FFFFFF"/>
          </a:solidFill>
          <a:ln w="19050">
            <a:solidFill>
              <a:srgbClr val="6D28D9"/>
            </a:solidFill>
          </a:ln>
        </p:spPr>
        <p:txBody>
          <a:bodyPr wrap="square" lIns="0" tIns="0" rIns="0" bIns="0" rtlCol="0" anchor="t">
            <a:noAutofit/>
          </a:bodyPr>
          <a:lstStyle/>
          <a:p>
            <a:endParaRPr lang="en-US" dirty="0"/>
          </a:p>
        </p:txBody>
      </p:sp>
      <p:sp>
        <p:nvSpPr>
          <p:cNvPr id="306" name="Shape 306"/>
          <p:cNvSpPr txBox="1"/>
          <p:nvPr/>
        </p:nvSpPr>
        <p:spPr>
          <a:xfrm>
            <a:off x="1755648" y="2779776"/>
            <a:ext cx="9326880" cy="7498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2000" dirty="0">
                <a:solidFill>
                  <a:srgbClr val="14142B"/>
                </a:solidFill>
                <a:latin typeface="Calibri"/>
                <a:ea typeface="Calibri"/>
                <a:cs typeface="Calibri"/>
                <a:sym typeface="Calibri"/>
              </a:rPr>
              <a:t>README with reproducible setup instructions</a:t>
            </a:r>
            <a:r>
              <a:rPr lang="en-US" sz="2000" dirty="0">
                <a:solidFill>
                  <a:srgbClr val="63637E"/>
                </a:solidFill>
                <a:latin typeface="Calibri"/>
                <a:ea typeface="Calibri"/>
                <a:cs typeface="Calibri"/>
                <a:sym typeface="Calibri"/>
              </a:rPr>
              <a:t> </a:t>
            </a:r>
            <a:endParaRPr lang="en-US" sz="2000" dirty="0"/>
          </a:p>
        </p:txBody>
      </p:sp>
      <p:sp>
        <p:nvSpPr>
          <p:cNvPr id="307" name="Checklist row"/>
          <p:cNvSpPr/>
          <p:nvPr/>
        </p:nvSpPr>
        <p:spPr>
          <a:xfrm>
            <a:off x="932688" y="3730752"/>
            <a:ext cx="10332720" cy="749808"/>
          </a:xfrm>
          <a:prstGeom prst="roundRect">
            <a:avLst>
              <a:gd name="adj" fmla="val 14000"/>
            </a:avLst>
          </a:prstGeom>
          <a:solidFill>
            <a:srgbClr val="F5F3FF"/>
          </a:solidFill>
          <a:ln>
            <a:noFill/>
          </a:ln>
        </p:spPr>
        <p:txBody>
          <a:bodyPr wrap="square" lIns="0" tIns="0" rIns="0" bIns="0" rtlCol="0" anchor="t">
            <a:noAutofit/>
          </a:bodyPr>
          <a:lstStyle/>
          <a:p>
            <a:endParaRPr lang="en-US" dirty="0"/>
          </a:p>
        </p:txBody>
      </p:sp>
      <p:sp>
        <p:nvSpPr>
          <p:cNvPr id="308" name="Checkbox"/>
          <p:cNvSpPr/>
          <p:nvPr/>
        </p:nvSpPr>
        <p:spPr>
          <a:xfrm>
            <a:off x="1207008" y="3950208"/>
            <a:ext cx="310896" cy="310896"/>
          </a:xfrm>
          <a:prstGeom prst="roundRect">
            <a:avLst>
              <a:gd name="adj" fmla="val 18000"/>
            </a:avLst>
          </a:prstGeom>
          <a:solidFill>
            <a:srgbClr val="FFFFFF"/>
          </a:solidFill>
          <a:ln w="19050">
            <a:solidFill>
              <a:srgbClr val="6D28D9"/>
            </a:solidFill>
          </a:ln>
        </p:spPr>
        <p:txBody>
          <a:bodyPr wrap="square" lIns="0" tIns="0" rIns="0" bIns="0" rtlCol="0" anchor="t">
            <a:noAutofit/>
          </a:bodyPr>
          <a:lstStyle/>
          <a:p>
            <a:endParaRPr lang="en-US" dirty="0"/>
          </a:p>
        </p:txBody>
      </p:sp>
      <p:sp>
        <p:nvSpPr>
          <p:cNvPr id="309" name="Shape 309"/>
          <p:cNvSpPr txBox="1"/>
          <p:nvPr/>
        </p:nvSpPr>
        <p:spPr>
          <a:xfrm>
            <a:off x="1755648" y="3730752"/>
            <a:ext cx="9326880" cy="7498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2000" dirty="0">
                <a:solidFill>
                  <a:srgbClr val="14142B"/>
                </a:solidFill>
                <a:latin typeface="Calibri"/>
                <a:ea typeface="Calibri"/>
                <a:cs typeface="Calibri"/>
                <a:sym typeface="Calibri"/>
              </a:rPr>
              <a:t>Demo video, max 5 minutes</a:t>
            </a:r>
            <a:r>
              <a:rPr lang="en-US" sz="2000" dirty="0">
                <a:solidFill>
                  <a:srgbClr val="63637E"/>
                </a:solidFill>
                <a:latin typeface="Calibri"/>
                <a:ea typeface="Calibri"/>
                <a:cs typeface="Calibri"/>
                <a:sym typeface="Calibri"/>
              </a:rPr>
              <a:t> </a:t>
            </a:r>
            <a:endParaRPr lang="en-US" sz="2000" dirty="0"/>
          </a:p>
        </p:txBody>
      </p:sp>
      <p:sp>
        <p:nvSpPr>
          <p:cNvPr id="310" name="Checklist row"/>
          <p:cNvSpPr/>
          <p:nvPr/>
        </p:nvSpPr>
        <p:spPr>
          <a:xfrm>
            <a:off x="932688" y="4681728"/>
            <a:ext cx="10332720" cy="749808"/>
          </a:xfrm>
          <a:prstGeom prst="roundRect">
            <a:avLst>
              <a:gd name="adj" fmla="val 14000"/>
            </a:avLst>
          </a:prstGeom>
          <a:solidFill>
            <a:srgbClr val="F5F3FF"/>
          </a:solidFill>
          <a:ln>
            <a:noFill/>
          </a:ln>
        </p:spPr>
        <p:txBody>
          <a:bodyPr wrap="square" lIns="0" tIns="0" rIns="0" bIns="0" rtlCol="0" anchor="t">
            <a:noAutofit/>
          </a:bodyPr>
          <a:lstStyle/>
          <a:p>
            <a:endParaRPr lang="en-US" dirty="0"/>
          </a:p>
        </p:txBody>
      </p:sp>
      <p:sp>
        <p:nvSpPr>
          <p:cNvPr id="311" name="Checkbox"/>
          <p:cNvSpPr/>
          <p:nvPr/>
        </p:nvSpPr>
        <p:spPr>
          <a:xfrm>
            <a:off x="1207008" y="4901184"/>
            <a:ext cx="310896" cy="310896"/>
          </a:xfrm>
          <a:prstGeom prst="roundRect">
            <a:avLst>
              <a:gd name="adj" fmla="val 18000"/>
            </a:avLst>
          </a:prstGeom>
          <a:solidFill>
            <a:srgbClr val="92D050"/>
          </a:solidFill>
          <a:ln w="19050">
            <a:solidFill>
              <a:srgbClr val="6D28D9"/>
            </a:solidFill>
          </a:ln>
        </p:spPr>
        <p:txBody>
          <a:bodyPr wrap="square" lIns="0" tIns="0" rIns="0" bIns="0" rtlCol="0" anchor="t">
            <a:noAutofit/>
          </a:bodyPr>
          <a:lstStyle/>
          <a:p>
            <a:endParaRPr lang="en-US" dirty="0"/>
          </a:p>
        </p:txBody>
      </p:sp>
      <p:sp>
        <p:nvSpPr>
          <p:cNvPr id="312" name="Shape 312"/>
          <p:cNvSpPr txBox="1"/>
          <p:nvPr/>
        </p:nvSpPr>
        <p:spPr>
          <a:xfrm>
            <a:off x="1755648" y="4681728"/>
            <a:ext cx="9326880" cy="7498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2000" dirty="0">
                <a:solidFill>
                  <a:srgbClr val="14142B"/>
                </a:solidFill>
                <a:latin typeface="Calibri"/>
                <a:ea typeface="Calibri"/>
                <a:cs typeface="Calibri"/>
                <a:sym typeface="Calibri"/>
              </a:rPr>
              <a:t>Presentation file (PPT)</a:t>
            </a:r>
            <a:r>
              <a:rPr lang="en-US" sz="2000" dirty="0">
                <a:solidFill>
                  <a:srgbClr val="63637E"/>
                </a:solidFill>
                <a:latin typeface="Calibri"/>
                <a:ea typeface="Calibri"/>
                <a:cs typeface="Calibri"/>
                <a:sym typeface="Calibri"/>
              </a:rPr>
              <a:t> </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4600"/>
              <a:buFont typeface="Arial"/>
              <a:buNone/>
            </a:pPr>
            <a:r>
              <a:rPr lang="en-US" sz="4600" b="1" i="0" u="none" strike="noStrike" cap="none">
                <a:solidFill>
                  <a:srgbClr val="14142B"/>
                </a:solidFill>
                <a:latin typeface="Arial"/>
                <a:ea typeface="Arial"/>
                <a:cs typeface="Arial"/>
                <a:sym typeface="Arial"/>
              </a:rPr>
              <a:t>Thank you</a:t>
            </a:r>
            <a:endParaRPr sz="4600" b="0" i="0" u="none" strike="noStrike" cap="non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637E"/>
              </a:buClr>
              <a:buSzPts val="1100"/>
              <a:buFont typeface="Calibri"/>
              <a:buNone/>
            </a:pPr>
            <a:r>
              <a:rPr lang="en-US" sz="1100" b="0" i="0" u="none" strike="noStrike" cap="none">
                <a:solidFill>
                  <a:srgbClr val="63637E"/>
                </a:solidFill>
                <a:latin typeface="Calibri"/>
                <a:ea typeface="Calibri"/>
                <a:cs typeface="Calibri"/>
                <a:sym typeface="Calibri"/>
              </a:rPr>
              <a:t>Organised by the Language AI Team and the PRISM Team, Samsung R&amp;D Institute India</a:t>
            </a:r>
            <a:endParaRPr sz="1100" b="0" i="0" u="none" strike="noStrike" cap="none">
              <a:solidFill>
                <a:schemeClr val="dk1"/>
              </a:solidFill>
              <a:latin typeface="Calibri"/>
              <a:ea typeface="Calibri"/>
              <a:cs typeface="Calibri"/>
              <a:sym typeface="Calibri"/>
            </a:endParaRPr>
          </a:p>
        </p:txBody>
      </p:sp>
      <p:sp>
        <p:nvSpPr>
          <p:cNvPr id="302" name="Project pill"/>
          <p:cNvSpPr/>
          <p:nvPr/>
        </p:nvSpPr>
        <p:spPr>
          <a:xfrm>
            <a:off x="1046074" y="3127248"/>
            <a:ext cx="3017520" cy="329184"/>
          </a:xfrm>
          <a:prstGeom prst="roundRect">
            <a:avLst>
              <a:gd name="adj" fmla="val 50000"/>
            </a:avLst>
          </a:prstGeom>
          <a:solidFill>
            <a:srgbClr val="FFFFFF"/>
          </a:solidFill>
          <a:ln w="12700">
            <a:solidFill>
              <a:srgbClr val="D9D3F0"/>
            </a:solidFill>
          </a:ln>
        </p:spPr>
        <p:txBody>
          <a:bodyPr wrap="square" lIns="0" tIns="0" rIns="0" bIns="0" rtlCol="0" anchor="ctr">
            <a:noAutofit/>
          </a:bodyPr>
          <a:lstStyle/>
          <a:p>
            <a:pPr marL="0" indent="0" algn="ctr">
              <a:spcBef>
                <a:spcPts val="0"/>
              </a:spcBef>
              <a:spcAft>
                <a:spcPts val="0"/>
              </a:spcAft>
              <a:buNone/>
            </a:pPr>
            <a:r>
              <a:rPr lang="en-US" sz="1100" b="1" spc="60" dirty="0">
                <a:solidFill>
                  <a:srgbClr val="6D28D9"/>
                </a:solidFill>
                <a:latin typeface="Arial"/>
                <a:ea typeface="Arial"/>
                <a:cs typeface="Arial"/>
                <a:sym typeface="Arial"/>
              </a:rPr>
              <a:t>TRUTH-GATED VOICE  ·  THEME 05</a:t>
            </a:r>
            <a:endParaRPr lang="en-US" sz="1100" dirty="0"/>
          </a:p>
        </p:txBody>
      </p:sp>
      <p:sp>
        <p:nvSpPr>
          <p:cNvPr id="301" name="Closing line"/>
          <p:cNvSpPr txBox="1"/>
          <p:nvPr/>
        </p:nvSpPr>
        <p:spPr>
          <a:xfrm>
            <a:off x="1046074" y="4553712"/>
            <a:ext cx="5669280"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2000" dirty="0">
                <a:solidFill>
                  <a:srgbClr val="6D28D9"/>
                </a:solidFill>
                <a:latin typeface="Calibri"/>
                <a:ea typeface="Calibri"/>
                <a:cs typeface="Calibri"/>
                <a:sym typeface="Calibri"/>
              </a:rPr>
              <a:t>Questions? Feel free to interrupt.</a:t>
            </a:r>
            <a:endParaRPr lang="en-US" sz="2000" dirty="0"/>
          </a:p>
        </p:txBody>
      </p:sp>
      <p:pic>
        <p:nvPicPr>
          <p:cNvPr id="170" name="Network graphic" descr="hero_network.png"/>
          <p:cNvPicPr preferRelativeResize="0"/>
          <p:nvPr/>
        </p:nvPicPr>
        <p:blipFill rotWithShape="1">
          <a:blip r:embed="rId3">
            <a:alphaModFix/>
          </a:blip>
          <a:srcRect/>
          <a:stretch/>
        </p:blipFill>
        <p:spPr>
          <a:xfrm>
            <a:off x="7059168" y="1051560"/>
            <a:ext cx="4572000" cy="4572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2622</Words>
  <Application>Microsoft Office PowerPoint</Application>
  <PresentationFormat>Widescreen</PresentationFormat>
  <Paragraphs>255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Binny Lakra/PRISM /SRI-Bangalore/Professional/Samsung Electronics</dc:creator>
  <cp:lastModifiedBy>Krishna Gautam</cp:lastModifiedBy>
  <cp:revision>1</cp:revision>
  <dcterms:created xsi:type="dcterms:W3CDTF">2026-09-07T12:01:01Z</dcterms:created>
  <dcterms:modified xsi:type="dcterms:W3CDTF">2026-09-30T16:44:40Z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